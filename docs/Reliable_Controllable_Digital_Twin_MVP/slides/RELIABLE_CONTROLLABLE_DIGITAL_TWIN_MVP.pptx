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5141f31a434720" /><Relationship Type="http://schemas.openxmlformats.org/officeDocument/2006/relationships/extended-properties" Target="/docProps/app.xml" Id="R1e748e741c3749af" /><Relationship Type="http://schemas.openxmlformats.org/officeDocument/2006/relationships/officeDocument" Target="/ppt/presentation.xml" Id="Rcc8ee7f07ec24f36" /></Relationships>
</file>

<file path=ppt/presentation.xml><?xml version="1.0" encoding="utf-8"?>
<p:presentation xmlns:p="http://schemas.openxmlformats.org/presentationml/2006/main">
  <p:sldMasterIdLst>
    <p:sldMasterId xmlns:r="http://schemas.openxmlformats.org/officeDocument/2006/relationships" id="2147483648" r:id="R25a70bb757054bad"/>
  </p:sldMasterIdLst>
  <p:notesMasterIdLst>
    <p:notesMasterId xmlns:r="http://schemas.openxmlformats.org/officeDocument/2006/relationships" r:id="R9ca6da5f50674092"/>
  </p:notesMasterIdLst>
  <p:sldIdLst>
    <p:sldId xmlns:r="http://schemas.openxmlformats.org/officeDocument/2006/relationships" id="256" r:id="R793540911a5d41ca"/>
    <p:sldId xmlns:r="http://schemas.openxmlformats.org/officeDocument/2006/relationships" id="257" r:id="R146738b3728f4ac4"/>
    <p:sldId xmlns:r="http://schemas.openxmlformats.org/officeDocument/2006/relationships" id="258" r:id="R1e33b558e9354fc6"/>
    <p:sldId xmlns:r="http://schemas.openxmlformats.org/officeDocument/2006/relationships" id="259" r:id="R7a02b98f10b14edc"/>
    <p:sldId xmlns:r="http://schemas.openxmlformats.org/officeDocument/2006/relationships" id="260" r:id="Rf19d5ec2cccc411b"/>
    <p:sldId xmlns:r="http://schemas.openxmlformats.org/officeDocument/2006/relationships" id="261" r:id="Rfba6da1a34a8443c"/>
    <p:sldId xmlns:r="http://schemas.openxmlformats.org/officeDocument/2006/relationships" id="262" r:id="R264ac722687040bd"/>
    <p:sldId xmlns:r="http://schemas.openxmlformats.org/officeDocument/2006/relationships" id="263" r:id="Rda37789442594af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a4a43d5b2540c5" /><Relationship Type="http://schemas.openxmlformats.org/officeDocument/2006/relationships/slideMaster" Target="/ppt/slideMasters/slideMaster1.xml" Id="R25a70bb757054bad" /><Relationship Type="http://schemas.openxmlformats.org/officeDocument/2006/relationships/notesMaster" Target="/ppt/notesMasters/notesMaster1.xml" Id="R9ca6da5f50674092" /><Relationship Type="http://schemas.openxmlformats.org/officeDocument/2006/relationships/presProps" Target="/ppt/presProps.xml" Id="R2a0f6f88849f4a95" /><Relationship Type="http://schemas.openxmlformats.org/officeDocument/2006/relationships/tableStyles" Target="/ppt/tableStyles.xml" Id="R7ed31e3fc01843d4" /><Relationship Type="http://schemas.openxmlformats.org/officeDocument/2006/relationships/slide" Target="/ppt/slides/slide1.xml" Id="R793540911a5d41ca" /><Relationship Type="http://schemas.openxmlformats.org/officeDocument/2006/relationships/slide" Target="/ppt/slides/slide2.xml" Id="R146738b3728f4ac4" /><Relationship Type="http://schemas.openxmlformats.org/officeDocument/2006/relationships/slide" Target="/ppt/slides/slide3.xml" Id="R1e33b558e9354fc6" /><Relationship Type="http://schemas.openxmlformats.org/officeDocument/2006/relationships/slide" Target="/ppt/slides/slide4.xml" Id="R7a02b98f10b14edc" /><Relationship Type="http://schemas.openxmlformats.org/officeDocument/2006/relationships/slide" Target="/ppt/slides/slide5.xml" Id="Rf19d5ec2cccc411b" /><Relationship Type="http://schemas.openxmlformats.org/officeDocument/2006/relationships/slide" Target="/ppt/slides/slide6.xml" Id="Rfba6da1a34a8443c" /><Relationship Type="http://schemas.openxmlformats.org/officeDocument/2006/relationships/slide" Target="/ppt/slides/slide7.xml" Id="R264ac722687040bd" /><Relationship Type="http://schemas.openxmlformats.org/officeDocument/2006/relationships/slide" Target="/ppt/slides/slide8.xml" Id="Rda37789442594a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60d27e524f46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51a38de1ad468b" /><Relationship Type="http://schemas.openxmlformats.org/officeDocument/2006/relationships/notesMaster" Target="/ppt/notesMasters/notesMaster1.xml" Id="Rb12edf034a5047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d9ddc2e8c14710" /><Relationship Type="http://schemas.openxmlformats.org/officeDocument/2006/relationships/notesMaster" Target="/ppt/notesMasters/notesMaster1.xml" Id="Rdb22008e827544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c5486021f64216" /><Relationship Type="http://schemas.openxmlformats.org/officeDocument/2006/relationships/notesMaster" Target="/ppt/notesMasters/notesMaster1.xml" Id="Rad2f172a943e4a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1a350f7287e441a" /><Relationship Type="http://schemas.openxmlformats.org/officeDocument/2006/relationships/notesMaster" Target="/ppt/notesMasters/notesMaster1.xml" Id="R62ae6fde8bec4d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b5e39bce8794082" /><Relationship Type="http://schemas.openxmlformats.org/officeDocument/2006/relationships/notesMaster" Target="/ppt/notesMasters/notesMaster1.xml" Id="R95dc4d4af1e5461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d28e8dea6424262" /><Relationship Type="http://schemas.openxmlformats.org/officeDocument/2006/relationships/notesMaster" Target="/ppt/notesMasters/notesMaster1.xml" Id="Rd95b990630ac4a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684bec4d724faf" /><Relationship Type="http://schemas.openxmlformats.org/officeDocument/2006/relationships/notesMaster" Target="/ppt/notesMasters/notesMaster1.xml" Id="R1cae7bc6cb894f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66883db85d43f6" /><Relationship Type="http://schemas.openxmlformats.org/officeDocument/2006/relationships/notesMaster" Target="/ppt/notesMasters/notesMaster1.xml" Id="R3c5392f1208942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Can a mechanistic digital twin be both reliable and controllable?</a:t>
            </a:r>
          </a:p>
          <a:p xmlns:a="http://schemas.openxmlformats.org/drawingml/2006/main">
            <a:r>
              <a:t>Evidence: M1 establishes frozen C006; C1 establishes a reproducible primary response in that same frozen model.</a:t>
            </a:r>
          </a:p>
          <a:p xmlns:a="http://schemas.openxmlformats.org/drawingml/2006/main">
            <a:r>
              <a:t>Does not prove: clinical efficacy, patient benefit, or control of all sleep dynamics.</a:t>
            </a:r>
          </a:p>
          <a:p xmlns:a="http://schemas.openxmlformats.org/drawingml/2006/main">
            <a:r>
              <a:t>Speaking guidance: Part II has two linked tests. First, justify and freeze one mechanistic twin. Second, test whether that exact frozen twin responds reproducibly to a bounded causal intervention. M1 answers the first; C1 answers the second. The conclusion is deliberately bounded.</a:t>
            </a:r>
          </a:p>
          <a:p xmlns:a="http://schemas.openxmlformats.org/drawingml/2006/main">
            <a:r>
              <a:t>[Sources] M1 HUMAN_REVIEW/FINAL_REPORT.md; C1 HUMAN_REVIEW/C1_HIERARCHICAL_PRIMARY_TARGET_FINAL_SUMMARY.md. Absolute roots are recorded in SOURCE_AUTHORITY_MAP.md.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Why C006 rather than another candidate?</a:t>
            </a:r>
          </a:p>
          <a:p xmlns:a="http://schemas.openxmlformats.org/drawingml/2006/main">
            <a:r>
              <a:t>Evidence: The frozen rule selected minimum FIT NRMSE after FIT-only calibration. C006 was lowest at 0.2546; C014 was next at 0.2759. After freeze, C006 HELDOUT NRMSE was 0.2478 versus 0.4638 for matched C000, a 46.6% relative improvement.</a:t>
            </a:r>
          </a:p>
          <a:p xmlns:a="http://schemas.openxmlformats.org/drawingml/2006/main">
            <a:r>
              <a:t>Does not prove: population superiority, clinical validity, or exhaustive coverage of possible mechanisms.</a:t>
            </a:r>
          </a:p>
          <a:p xmlns:a="http://schemas.openxmlformats.org/drawingml/2006/main">
            <a:r>
              <a:t>Speaking guidance: The left panel is the selection evidence; the right panel is a post-freeze credibility check, not a second selection step. The figure is a communication synthesis from existing machine-readable M1 evidence.</a:t>
            </a:r>
          </a:p>
          <a:p xmlns:a="http://schemas.openxmlformats.org/drawingml/2006/main">
            <a:r>
              <a:t>[Sources] D:/Year3_Mao_Projects/sleep_loop/BigBang_V4D1/COSTA_MVP_FRESH_R4_20260816_023933/RUNS/FIT_WORKER/SELECTION_FREEZE.json; CODE/FROZEN_V2/protocol_v2.json; RUNS/HELDOUT_WORKER/HELDOUT_G6_RESULT.json.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What makes the M1 evidence chain reliable enough for the control experiment?</a:t>
            </a:r>
          </a:p>
          <a:p xmlns:a="http://schemas.openxmlformats.org/drawingml/2006/main">
            <a:r>
              <a:t>Evidence: Selection, pre-heldout freeze, held-out gate, independent reproduction, and exact provenance hashes.</a:t>
            </a:r>
          </a:p>
          <a:p xmlns:a="http://schemas.openxmlformats.org/drawingml/2006/main">
            <a:r>
              <a:t>Does not prove: scalp-voltage validity, population generalization, or intervention response.</a:t>
            </a:r>
          </a:p>
          <a:p xmlns:a="http://schemas.openxmlformats.org/drawingml/2006/main">
            <a:r>
              <a:t>Speaking guidance: Reliability is procedural and evidential. C006 was selected on FIT, frozen before held-out access, passed the held-out margin with a positive bootstrap interval, and the full chain was independently reproduced. C1 inherits the exact same protocol, model, and selection identities.</a:t>
            </a:r>
          </a:p>
          <a:p xmlns:a="http://schemas.openxmlformats.org/drawingml/2006/main">
            <a:r>
              <a:t>[Sources] M1 STATE/CANDIDATE_FREEZE_CHECKPOINT.json; RUNS/HELDOUT_WORKER/HELDOUT_G6_RESULT.json; TOURNAMENT/FINAL_M1_JUDGMENT.json.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What precise test defines controllability in this MVP?</a:t>
            </a:r>
          </a:p>
          <a:p xmlns:a="http://schemas.openxmlformats.org/drawingml/2006/main">
            <a:r>
              <a:t>Evidence: Frozen T2-primary direction, matched SHAM, fresh seeds, two durations, causal legal actuator, integrity vetoes, and visible secondary diagnostics.</a:t>
            </a:r>
          </a:p>
          <a:p xmlns:a="http://schemas.openxmlformats.org/drawingml/2006/main">
            <a:r>
              <a:t>Does not prove: simultaneous optimization of every endpoint or global state-space controllability.</a:t>
            </a:r>
          </a:p>
          <a:p xmlns:a="http://schemas.openxmlformats.org/drawingml/2006/main">
            <a:r>
              <a:t>Speaking guidance: C1 is a prospective response test. T2 is primary, I_SO is supporting, and spindle/coupling measures are mandatory diagnostics. The intervention is causal and bounded; success requires replicated T2 direction and complete integrity.</a:t>
            </a:r>
          </a:p>
          <a:p xmlns:a="http://schemas.openxmlformats.org/drawingml/2006/main">
            <a:r>
              <a:t>[Sources] C1 PROTOCOL/C1_PRIMARY_TARGET_V1_T2.json; STATE/FROZEN_CONTROLLER.json.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Does the primary response replicate and survive longer duration?</a:t>
            </a:r>
          </a:p>
          <a:p xmlns:a="http://schemas.openxmlformats.org/drawingml/2006/main">
            <a:r>
              <a:t>Evidence: T2 is positive in 3/3 seeds at 220 s and 3/3 at 910 s; medians are +0.1913% and +0.1784%; integrity passes all six runs.</a:t>
            </a:r>
          </a:p>
          <a:p xmlns:a="http://schemas.openxmlformats.org/drawingml/2006/main">
            <a:r>
              <a:t>Does not prove: a large clinical effect or a monotonic response for every possible seed and duration.</a:t>
            </a:r>
          </a:p>
          <a:p xmlns:a="http://schemas.openxmlformats.org/drawingml/2006/main">
            <a:r>
              <a:t>Speaking guidance: Every fresh seed is positive at both durations. Magnitudes vary, but the registered direction survives. Because seeds, durations, direction, and gate were fixed in advance, this is the core prospective controllability evidence.</a:t>
            </a:r>
          </a:p>
          <a:p xmlns:a="http://schemas.openxmlformats.org/drawingml/2006/main">
            <a:r>
              <a:t>[Sources] C1 RUNS/C1_PRIMARY_TARGET_AGGREGATE.json; six per-seed result.json files; FIGURES/C1_HIERARCHICAL_PRIMARY_TARGET_QUICKLOOK.png.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Is the primary T2 finding corroborated, and what adverse dynamics remain?</a:t>
            </a:r>
          </a:p>
          <a:p xmlns:a="http://schemas.openxmlformats.org/drawingml/2006/main">
            <a:r>
              <a:t>Evidence: I_SO is positive 3/3 at both durations. I_SP is adverse 0/3 positive at both durations; T6 is positive only 1/3 with slightly negative medians.</a:t>
            </a:r>
          </a:p>
          <a:p xmlns:a="http://schemas.openxmlformats.org/drawingml/2006/main">
            <a:r>
              <a:t>Does not prove: controller optimality or resolved spindle/coupling behavior.</a:t>
            </a:r>
          </a:p>
          <a:p xmlns:a="http://schemas.openxmlformats.org/drawingml/2006/main">
            <a:r>
              <a:t>Speaking guidance: The independent slow-oscillation diagnostic supports T2 in all seeds and both durations. The secondary heatmap prevents overclaiming: spindle-band strength is adverse in every run, and T6 is mixed. The correct sentence is primary controllability with secondary dynamical trade-offs.</a:t>
            </a:r>
          </a:p>
          <a:p xmlns:a="http://schemas.openxmlformats.org/drawingml/2006/main">
            <a:r>
              <a:t>[Sources] C1 RUNS/C1_PRIMARY_TARGET_AGGREGATE.json; RUNS/C1_PRIMARY_TARGET_METRICS.csv; authoritative quicklook.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Which components of the bounded MVP passed?</a:t>
            </a:r>
          </a:p>
          <a:p xmlns:a="http://schemas.openxmlformats.org/drawingml/2006/main">
            <a:r>
              <a:t>Evidence: Reliable frozen C006, provenance, frozen causal F01, legal actuator, fresh multi-seed T2, 910 s robustness, and I_SO corroboration all pass.</a:t>
            </a:r>
          </a:p>
          <a:p xmlns:a="http://schemas.openxmlformats.org/drawingml/2006/main">
            <a:r>
              <a:t>Does not prove: clinical or global controllability claims.</a:t>
            </a:r>
          </a:p>
          <a:p xmlns:a="http://schemas.openxmlformats.org/drawingml/2006/main">
            <a:r>
              <a:t>Speaking guidance: M1 establishes model choice and credibility; C1 establishes a prospectively defined response in the same frozen model. Every listed component passed. This supports closure at the bounded in-silico MVP level while leaving controller-quality trade-offs open.</a:t>
            </a:r>
          </a:p>
          <a:p xmlns:a="http://schemas.openxmlformats.org/drawingml/2006/main">
            <a:r>
              <a:t>[Sources] M1 final decision and freeze artifacts; C1 final decision, protocol, aggregate, controller, and 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What decision is requested from the advisor?</a:t>
            </a:r>
          </a:p>
          <a:p xmlns:a="http://schemas.openxmlformats.org/drawingml/2006/main">
            <a:r>
              <a:t>Evidence: The primary reliability-to-controllability chain is complete and hash-linked; remaining limitations are explicit and non-vetoing under the frozen gate.</a:t>
            </a:r>
          </a:p>
          <a:p xmlns:a="http://schemas.openxmlformats.org/drawingml/2006/main">
            <a:r>
              <a:t>Does not prove: that future controller optimization or translational validation is unnecessary.</a:t>
            </a:r>
          </a:p>
          <a:p xmlns:a="http://schemas.openxmlformats.org/drawingml/2006/main">
            <a:r>
              <a:t>Speaking guidance: The proposed closure is specific: Part II is complete at the bounded in-silico Reliable + Controllable Digital Twin MVP level. The limitations remain future work rather than being hidden or relabeled as success.</a:t>
            </a:r>
          </a:p>
          <a:p xmlns:a="http://schemas.openxmlformats.org/drawingml/2006/main">
            <a:r>
              <a:t>[Sources] CLAIMS_AND_LIMITATIONS.md; M1 and C1 final decisions and human reviews.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82037c2a0946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9a85ff6d414d84" /><Relationship Type="http://schemas.openxmlformats.org/officeDocument/2006/relationships/slideLayout" Target="/ppt/slideLayouts/slideLayout1.xml" Id="Rdd042180ef8a4f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042180ef8a4f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14af0f03c184586" /><Relationship Type="http://schemas.openxmlformats.org/officeDocument/2006/relationships/notesSlide" Target="/ppt/notesSlides/notesSlide1.xml" Id="Rbc61ee22381549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8ffc011363547e9" /><Relationship Type="http://schemas.openxmlformats.org/officeDocument/2006/relationships/chart" Target="/ppt/slides/charts/chart1.xml" Id="R17c09451506a4d5b" /><Relationship Type="http://schemas.openxmlformats.org/officeDocument/2006/relationships/chart" Target="/ppt/slides/charts/chart2.xml" Id="R84d937a013cc438b" /><Relationship Type="http://schemas.openxmlformats.org/officeDocument/2006/relationships/notesSlide" Target="/ppt/notesSlides/notesSlide2.xml" Id="R7fcc7df59dd44b5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d3156e09a7c4b61" /><Relationship Type="http://schemas.openxmlformats.org/officeDocument/2006/relationships/notesSlide" Target="/ppt/notesSlides/notesSlide3.xml" Id="Re06a003685a347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7ad17e7f2b64b3c" /><Relationship Type="http://schemas.openxmlformats.org/officeDocument/2006/relationships/notesSlide" Target="/ppt/notesSlides/notesSlide4.xml" Id="R8cdcadb9271842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4cfbe19eaff4600" /><Relationship Type="http://schemas.openxmlformats.org/officeDocument/2006/relationships/image" Target="/ppt/media/image.png" Id="R91bfaef4c9d1436f" /><Relationship Type="http://schemas.openxmlformats.org/officeDocument/2006/relationships/notesSlide" Target="/ppt/notesSlides/notesSlide5.xml" Id="R7a57a8a7756a49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f841a7de5b44f1f" /><Relationship Type="http://schemas.openxmlformats.org/officeDocument/2006/relationships/image" Target="/ppt/media/image2.png" Id="R4275c77f9b0749ce" /><Relationship Type="http://schemas.openxmlformats.org/officeDocument/2006/relationships/notesSlide" Target="/ppt/notesSlides/notesSlide6.xml" Id="R332415793e8c40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c92d075503b45c2" /><Relationship Type="http://schemas.openxmlformats.org/officeDocument/2006/relationships/notesSlide" Target="/ppt/notesSlides/notesSlide7.xml" Id="Re45c93c4c8dd41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4d59cae059e44b1" /><Relationship Type="http://schemas.openxmlformats.org/officeDocument/2006/relationships/notesSlide" Target="/ppt/notesSlides/notesSlide8.xml" Id="R0d9b7d81a9424a47" /></Relationships>
</file>

<file path=ppt/slides/charts/chart1.xml><?xml version="1.0" encoding="utf-8"?>
<c:chartSpace xmlns:c="http://schemas.openxmlformats.org/drawingml/2006/chart">
  <c:lang val="en-US"/>
  <c:chart>
    <c:plotArea>
      <c:barChart>
        <c:barDir val="bar"/>
        <c:grouping val="clustered"/>
        <c:varyColors val="0"/>
        <c:ser>
          <c:idx val="0"/>
          <c:order val="0"/>
          <c:tx>
            <c:v>FIT NRMSE</c:v>
          </c:tx>
          <c:spPr>
            <a:solidFill xmlns:a="http://schemas.openxmlformats.org/drawingml/2006/main">
              <a:srgbClr val="16324F"/>
            </a:solidFill>
          </c:spPr>
          <c:dPt>
            <c:idx val="0"/>
            <c:invertIfNegative val="0"/>
            <c:spPr>
              <a:solidFill xmlns:a="http://schemas.openxmlformats.org/drawingml/2006/main">
                <a:srgbClr val="C56A09"/>
              </a:solidFill>
            </c:spPr>
          </c:dPt>
          <c:dPt>
            <c:idx val="1"/>
            <c:invertIfNegative val="0"/>
            <c:spPr>
              <a:solidFill xmlns:a="http://schemas.openxmlformats.org/drawingml/2006/main">
                <a:srgbClr val="A9BAC4"/>
              </a:solidFill>
            </c:spPr>
          </c:dPt>
          <c:dPt>
            <c:idx val="2"/>
            <c:invertIfNegative val="0"/>
            <c:spPr>
              <a:solidFill xmlns:a="http://schemas.openxmlformats.org/drawingml/2006/main">
                <a:srgbClr val="A9BAC4"/>
              </a:solidFill>
            </c:spPr>
          </c:dPt>
          <c:dPt>
            <c:idx val="3"/>
            <c:invertIfNegative val="0"/>
            <c:spPr>
              <a:solidFill xmlns:a="http://schemas.openxmlformats.org/drawingml/2006/main">
                <a:srgbClr val="88A7B7"/>
              </a:solidFill>
            </c:spPr>
          </c:dPt>
          <c:dPt>
            <c:idx val="4"/>
            <c:invertIfNegative val="0"/>
            <c:spPr>
              <a:solidFill xmlns:a="http://schemas.openxmlformats.org/drawingml/2006/main">
                <a:srgbClr val="0E7490"/>
              </a:solidFill>
            </c:spPr>
          </c:dPt>
          <c:cat>
            <c:strLit>
              <c:ptCount val="5"/>
              <c:pt idx="0">
                <c:v>C000</c:v>
              </c:pt>
              <c:pt idx="1">
                <c:v>C009</c:v>
              </c:pt>
              <c:pt idx="2">
                <c:v>C011</c:v>
              </c:pt>
              <c:pt idx="3">
                <c:v>C014</c:v>
              </c:pt>
              <c:pt idx="4">
                <c:v>C006</c:v>
              </c:pt>
            </c:strLit>
          </c:cat>
          <c:val>
            <c:numLit>
              <c:formatCode>0.0000</c:formatCode>
              <c:ptCount val="5"/>
              <c:pt idx="0">
                <c:v>0.4625682611</c:v>
              </c:pt>
              <c:pt idx="1">
                <c:v>0.3686095071</c:v>
              </c:pt>
              <c:pt idx="2">
                <c:v>0.3654721951</c:v>
              </c:pt>
              <c:pt idx="3">
                <c:v>0.2759201346</c:v>
              </c:pt>
              <c:pt idx="4">
                <c:v>0.2546118948</c:v>
              </c:pt>
            </c:numLit>
          </c:val>
        </c:ser>
        <c:dLbls>
          <c:txPr>
            <a:bodyPr xmlns:a="http://schemas.openxmlformats.org/drawingml/2006/main" anchorCtr="1"/>
            <a:lstStyle xmlns:a="http://schemas.openxmlformats.org/drawingml/2006/main"/>
            <a:p xmlns:a="http://schemas.openxmlformats.org/drawingml/2006/main">
              <a:pPr>
                <a:defRPr sz="1275" b="1">
                  <a:solidFill>
                    <a:srgbClr val="17212B"/>
                  </a:solidFill>
                </a:defRPr>
              </a:pPr>
            </a:p>
          </c:txPr>
          <c:dLblPos val="outEnd"/>
          <c:showLegendKey val="0"/>
          <c:showVal val="1"/>
          <c:showCatName val="0"/>
          <c:showSerName val="0"/>
          <c:showPercent val="0"/>
          <c:showBubbleSize val="0"/>
          <c:showLeaderLines val="0"/>
        </c:dLbls>
        <c:gapWidth val="52"/>
        <c:axId val="48650112"/>
        <c:axId val="48672768"/>
      </c:barChart>
      <c:catAx>
        <c:axId val="48650112"/>
        <c:scaling>
          <c:orientation val="minMax"/>
        </c:scaling>
        <c:delete val="0"/>
        <c:axPos val="l"/>
        <c:majorGridlines>
          <c:spPr>
            <a:ln xmlns:a="http://schemas.openxmlformats.org/drawingml/2006/main" w="9525">
              <a:solidFill>
                <a:srgbClr val="D7DEE5"/>
              </a:solidFill>
              <a:prstDash val="solid"/>
            </a:ln>
          </c:spPr>
        </c:majorGridlines>
        <c:numFmt formatCode="0.0"/>
        <c:majorTickMark val="none"/>
        <c:minorTickMark val="none"/>
        <c:spPr>
          <a:ln xmlns:a="http://schemas.openxmlformats.org/drawingml/2006/main" w="9525">
            <a:solidFill>
              <a:srgbClr val="D7DEE5"/>
            </a:solidFill>
            <a:prstDash val="solid"/>
          </a:ln>
        </c:spPr>
        <c:txPr>
          <a:bodyPr xmlns:a="http://schemas.openxmlformats.org/drawingml/2006/main" anchorCtr="1"/>
          <a:lstStyle xmlns:a="http://schemas.openxmlformats.org/drawingml/2006/main"/>
          <a:p xmlns:a="http://schemas.openxmlformats.org/drawingml/2006/main">
            <a:pPr>
              <a:defRPr sz="1200">
                <a:solidFill>
                  <a:srgbClr val="5B6875"/>
                </a:solidFill>
              </a:defRPr>
            </a:pPr>
          </a:p>
        </c:txPr>
        <c:crossAx val="48672768"/>
      </c:catAx>
      <c:valAx>
        <c:axId val="48672768"/>
        <c:scaling>
          <c:orientation val="minMax"/>
        </c:scaling>
        <c:delete val="0"/>
        <c:axPos val="b"/>
        <c:numFmt formatCode="General"/>
        <c:majorTickMark val="none"/>
        <c:minorTickMark val="none"/>
        <c:tickLblPos val="none"/>
        <c:spPr>
          <a:ln xmlns:a="http://schemas.openxmlformats.org/drawingml/2006/main" w="9525">
            <a:solidFill>
              <a:srgbClr val="D7DEE5"/>
            </a:solidFill>
            <a:prstDash val="solid"/>
          </a:ln>
        </c:spPr>
        <c:txPr>
          <a:bodyPr xmlns:a="http://schemas.openxmlformats.org/drawingml/2006/main" anchorCtr="1"/>
          <a:lstStyle xmlns:a="http://schemas.openxmlformats.org/drawingml/2006/main"/>
          <a:p xmlns:a="http://schemas.openxmlformats.org/drawingml/2006/main">
            <a:pPr>
              <a:defRPr sz="1500">
                <a:solidFill>
                  <a:srgbClr val="17212B"/>
                </a:solidFill>
              </a:defRPr>
            </a:pPr>
          </a:p>
        </c:txPr>
        <c:crossAx val="48650112"/>
        <c:crossBetween val="between"/>
      </c:valAx>
      <c:spPr>
        <a:solidFill xmlns:a="http://schemas.openxmlformats.org/drawingml/2006/main">
          <a:srgbClr val="FFFFFF"/>
        </a:solidFill>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HELDOUT NRMSE</c:v>
          </c:tx>
          <c:spPr>
            <a:solidFill xmlns:a="http://schemas.openxmlformats.org/drawingml/2006/main">
              <a:srgbClr val="0E7490"/>
            </a:solidFill>
          </c:spPr>
          <c:dPt>
            <c:idx val="1"/>
            <c:invertIfNegative val="0"/>
            <c:spPr>
              <a:solidFill xmlns:a="http://schemas.openxmlformats.org/drawingml/2006/main">
                <a:srgbClr val="C56A09"/>
              </a:solidFill>
            </c:spPr>
          </c:dPt>
          <c:cat>
            <c:strLit>
              <c:ptCount val="2"/>
              <c:pt idx="0">
                <c:v>Frozen C006</c:v>
              </c:pt>
              <c:pt idx="1">
                <c:v>Matched C000</c:v>
              </c:pt>
            </c:strLit>
          </c:cat>
          <c:val>
            <c:numLit>
              <c:formatCode>0.0000</c:formatCode>
              <c:ptCount val="2"/>
              <c:pt idx="0">
                <c:v>0.2478452544</c:v>
              </c:pt>
              <c:pt idx="1">
                <c:v>0.4637753501</c:v>
              </c:pt>
            </c:numLit>
          </c:val>
        </c:ser>
        <c:dLbls>
          <c:txPr>
            <a:bodyPr xmlns:a="http://schemas.openxmlformats.org/drawingml/2006/main" anchorCtr="1"/>
            <a:lstStyle xmlns:a="http://schemas.openxmlformats.org/drawingml/2006/main"/>
            <a:p xmlns:a="http://schemas.openxmlformats.org/drawingml/2006/main">
              <a:pPr>
                <a:defRPr sz="1275" b="1">
                  <a:solidFill>
                    <a:srgbClr val="17212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EE5"/>
            </a:solidFill>
            <a:prstDash val="solid"/>
          </a:ln>
        </c:spPr>
        <c:txPr>
          <a:bodyPr xmlns:a="http://schemas.openxmlformats.org/drawingml/2006/main" anchorCtr="1"/>
          <a:lstStyle xmlns:a="http://schemas.openxmlformats.org/drawingml/2006/main"/>
          <a:p xmlns:a="http://schemas.openxmlformats.org/drawingml/2006/main">
            <a:pPr>
              <a:defRPr sz="1275">
                <a:solidFill>
                  <a:srgbClr val="17212B"/>
                </a:solidFill>
              </a:defRPr>
            </a:pPr>
          </a:p>
        </c:txPr>
        <c:crossAx val="48672768"/>
      </c:catAx>
      <c:valAx>
        <c:axId val="48672768"/>
        <c:scaling>
          <c:orientation val="minMax"/>
          <c:max val="0.5"/>
          <c:min val="0"/>
        </c:scaling>
        <c:delete val="0"/>
        <c:axPos val="l"/>
        <c:majorGridlines>
          <c:spPr>
            <a:ln xmlns:a="http://schemas.openxmlformats.org/drawingml/2006/main" w="9525">
              <a:solidFill>
                <a:srgbClr val="D7DEE5"/>
              </a:solidFill>
              <a:prstDash val="solid"/>
            </a:ln>
          </c:spPr>
        </c:majorGridlines>
        <c:numFmt formatCode="General"/>
        <c:majorTickMark val="none"/>
        <c:minorTickMark val="none"/>
        <c:spPr>
          <a:ln xmlns:a="http://schemas.openxmlformats.org/drawingml/2006/main" w="9525">
            <a:solidFill>
              <a:srgbClr val="D7DEE5"/>
            </a:solidFill>
            <a:prstDash val="solid"/>
          </a:ln>
        </c:spPr>
        <c:txPr>
          <a:bodyPr xmlns:a="http://schemas.openxmlformats.org/drawingml/2006/main" anchorCtr="1"/>
          <a:lstStyle xmlns:a="http://schemas.openxmlformats.org/drawingml/2006/main"/>
          <a:p xmlns:a="http://schemas.openxmlformats.org/drawingml/2006/main">
            <a:pPr>
              <a:defRPr sz="1125">
                <a:solidFill>
                  <a:srgbClr val="5B6875"/>
                </a:solidFill>
              </a:defRPr>
            </a:pPr>
          </a:p>
        </c:txPr>
        <c:crossAx val="48650112"/>
        <c:crossBetween val="between"/>
        <c:majorUnit val="0.1"/>
      </c:valAx>
      <c:spPr>
        <a:solidFill xmlns:a="http://schemas.openxmlformats.org/drawingml/2006/main">
          <a:srgbClr val="FFFFFF"/>
        </a:solidFill>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BC91E86-E421-45C9-9E7F-D5C0C2A459D3}"/>
              </a:ext>
            </a:extLst>
          </p:cNvPr>
          <p:cNvSpPr>
            <a:spLocks xmlns:a="http://schemas.openxmlformats.org/drawingml/2006/main" noGrp="1"/>
          </p:cNvSpPr>
          <p:nvPr/>
        </p:nvSpPr>
        <p:spPr>
          <a:xfrm xmlns:a="http://schemas.openxmlformats.org/drawingml/2006/main">
            <a:off x="647700" y="4762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7DD3E8"/>
                </a:solidFill>
              </a:defRPr>
            </a:pPr>
            <a:r>
              <a:rPr sz="1275" b="1">
                <a:solidFill>
                  <a:srgbClr val="7DD3E8"/>
                </a:solidFill>
              </a:rPr>
              <a:t>DISSERTATION PART II</a:t>
            </a:r>
          </a:p>
        </p:txBody>
      </p:sp>
      <p:sp>
        <p:nvSpPr>
          <p:cNvPr id="2" name="deck-title">
            <a:extLst xmlns:a="http://schemas.openxmlformats.org/drawingml/2006/main">
              <a:ext uri="{FF2B5EF4-FFF2-40B4-BE49-F238E27FC236}">
                <a16:creationId xmlns:a16="http://schemas.microsoft.com/office/drawing/2014/main" id="{89F4E0A7-0B28-46BD-8F20-3574DE0BBEF6}"/>
              </a:ext>
            </a:extLst>
          </p:cNvPr>
          <p:cNvSpPr>
            <a:spLocks xmlns:a="http://schemas.openxmlformats.org/drawingml/2006/main" noGrp="1"/>
          </p:cNvSpPr>
          <p:nvPr/>
        </p:nvSpPr>
        <p:spPr>
          <a:xfrm xmlns:a="http://schemas.openxmlformats.org/drawingml/2006/main">
            <a:off x="647700" y="1066800"/>
            <a:ext cx="1000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500" b="1">
                <a:solidFill>
                  <a:srgbClr val="FFFFFF"/>
                </a:solidFill>
              </a:defRPr>
            </a:pPr>
            <a:r>
              <a:rPr sz="4500" b="1">
                <a:solidFill>
                  <a:srgbClr val="FFFFFF"/>
                </a:solidFill>
              </a:rPr>
              <a:t>Can a Mechanistic Digital Twin Be Both Reliable and Controllable?</a:t>
            </a:r>
          </a:p>
        </p:txBody>
      </p:sp>
      <p:sp>
        <p:nvSpPr>
          <p:cNvPr id="3" name="">
            <a:extLst xmlns:a="http://schemas.openxmlformats.org/drawingml/2006/main">
              <a:ext uri="{FF2B5EF4-FFF2-40B4-BE49-F238E27FC236}">
                <a16:creationId xmlns:a16="http://schemas.microsoft.com/office/drawing/2014/main" id="{46D667BB-D63B-45E7-86C7-C69D7CED7609}"/>
              </a:ext>
            </a:extLst>
          </p:cNvPr>
          <p:cNvSpPr>
            <a:spLocks xmlns:a="http://schemas.openxmlformats.org/drawingml/2006/main" noGrp="1"/>
          </p:cNvSpPr>
          <p:nvPr/>
        </p:nvSpPr>
        <p:spPr>
          <a:xfrm xmlns:a="http://schemas.openxmlformats.org/drawingml/2006/main">
            <a:off x="647700" y="2647950"/>
            <a:ext cx="714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C9D5E2"/>
                </a:solidFill>
              </a:defRPr>
            </a:pPr>
            <a:r>
              <a:rPr sz="1875" b="0">
                <a:solidFill>
                  <a:srgbClr val="C9D5E2"/>
                </a:solidFill>
              </a:rPr>
              <a:t>A frozen-evidence synthesis of M1 and C1</a:t>
            </a:r>
          </a:p>
        </p:txBody>
      </p:sp>
      <p:sp>
        <p:nvSpPr>
          <p:cNvPr id="4" name="">
            <a:extLst xmlns:a="http://schemas.openxmlformats.org/drawingml/2006/main">
              <a:ext uri="{FF2B5EF4-FFF2-40B4-BE49-F238E27FC236}">
                <a16:creationId xmlns:a16="http://schemas.microsoft.com/office/drawing/2014/main" id="{0B92E342-3DFF-4762-A732-695E772FFCD3}"/>
              </a:ext>
            </a:extLst>
          </p:cNvPr>
          <p:cNvSpPr>
            <a:spLocks xmlns:a="http://schemas.openxmlformats.org/drawingml/2006/main" noGrp="1"/>
          </p:cNvSpPr>
          <p:nvPr/>
        </p:nvSpPr>
        <p:spPr>
          <a:xfrm xmlns:a="http://schemas.openxmlformats.org/drawingml/2006/main">
            <a:off x="647700" y="3657600"/>
            <a:ext cx="2724150" cy="1104900"/>
          </a:xfrm>
          <a:prstGeom xmlns:a="http://schemas.openxmlformats.org/drawingml/2006/main" prst="roundRect">
            <a:avLst>
              <a:gd name="adj" fmla="val 10345"/>
            </a:avLst>
          </a:prstGeom>
          <a:solidFill xmlns:a="http://schemas.openxmlformats.org/drawingml/2006/main">
            <a:srgbClr val="0E7490"/>
          </a:solidFill>
          <a:ln xmlns:a="http://schemas.openxmlformats.org/drawingml/2006/main" w="0">
            <a:solidFill>
              <a:srgbClr val="0E7490"/>
            </a:solidFill>
            <a:prstDash val="solid"/>
          </a:ln>
        </p:spPr>
      </p:sp>
      <p:sp>
        <p:nvSpPr>
          <p:cNvPr id="5" name="">
            <a:extLst xmlns:a="http://schemas.openxmlformats.org/drawingml/2006/main">
              <a:ext uri="{FF2B5EF4-FFF2-40B4-BE49-F238E27FC236}">
                <a16:creationId xmlns:a16="http://schemas.microsoft.com/office/drawing/2014/main" id="{52B429F9-A663-4680-9184-60DE4774C589}"/>
              </a:ext>
            </a:extLst>
          </p:cNvPr>
          <p:cNvSpPr>
            <a:spLocks xmlns:a="http://schemas.openxmlformats.org/drawingml/2006/main" noGrp="1"/>
          </p:cNvSpPr>
          <p:nvPr/>
        </p:nvSpPr>
        <p:spPr>
          <a:xfrm xmlns:a="http://schemas.openxmlformats.org/drawingml/2006/main">
            <a:off x="895350" y="3848100"/>
            <a:ext cx="819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M1</a:t>
            </a:r>
          </a:p>
        </p:txBody>
      </p:sp>
      <p:sp>
        <p:nvSpPr>
          <p:cNvPr id="6" name="">
            <a:extLst xmlns:a="http://schemas.openxmlformats.org/drawingml/2006/main">
              <a:ext uri="{FF2B5EF4-FFF2-40B4-BE49-F238E27FC236}">
                <a16:creationId xmlns:a16="http://schemas.microsoft.com/office/drawing/2014/main" id="{846F1A43-380D-4781-B0BF-2CB53F180C52}"/>
              </a:ext>
            </a:extLst>
          </p:cNvPr>
          <p:cNvSpPr>
            <a:spLocks xmlns:a="http://schemas.openxmlformats.org/drawingml/2006/main" noGrp="1"/>
          </p:cNvSpPr>
          <p:nvPr/>
        </p:nvSpPr>
        <p:spPr>
          <a:xfrm xmlns:a="http://schemas.openxmlformats.org/drawingml/2006/main">
            <a:off x="895350" y="42672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Reliable</a:t>
            </a:r>
          </a:p>
        </p:txBody>
      </p:sp>
      <p:sp>
        <p:nvSpPr>
          <p:cNvPr id="7" name="">
            <a:extLst xmlns:a="http://schemas.openxmlformats.org/drawingml/2006/main">
              <a:ext uri="{FF2B5EF4-FFF2-40B4-BE49-F238E27FC236}">
                <a16:creationId xmlns:a16="http://schemas.microsoft.com/office/drawing/2014/main" id="{BE0C7FF7-6412-4A2F-98B6-30478D49C523}"/>
              </a:ext>
            </a:extLst>
          </p:cNvPr>
          <p:cNvSpPr>
            <a:spLocks xmlns:a="http://schemas.openxmlformats.org/drawingml/2006/main" noGrp="1"/>
          </p:cNvSpPr>
          <p:nvPr/>
        </p:nvSpPr>
        <p:spPr>
          <a:xfrm xmlns:a="http://schemas.openxmlformats.org/drawingml/2006/main">
            <a:off x="3581400" y="3905250"/>
            <a:ext cx="45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600" b="1">
                <a:solidFill>
                  <a:srgbClr val="9DB0C3"/>
                </a:solidFill>
              </a:defRPr>
            </a:pPr>
            <a:r>
              <a:rPr sz="3600" b="1">
                <a:solidFill>
                  <a:srgbClr val="9DB0C3"/>
                </a:solidFill>
              </a:rPr>
              <a:t>+</a:t>
            </a:r>
          </a:p>
        </p:txBody>
      </p:sp>
      <p:sp>
        <p:nvSpPr>
          <p:cNvPr id="8" name="">
            <a:extLst xmlns:a="http://schemas.openxmlformats.org/drawingml/2006/main">
              <a:ext uri="{FF2B5EF4-FFF2-40B4-BE49-F238E27FC236}">
                <a16:creationId xmlns:a16="http://schemas.microsoft.com/office/drawing/2014/main" id="{988AE6C4-09FF-47E5-9CDC-4A9CB997FD39}"/>
              </a:ext>
            </a:extLst>
          </p:cNvPr>
          <p:cNvSpPr>
            <a:spLocks xmlns:a="http://schemas.openxmlformats.org/drawingml/2006/main" noGrp="1"/>
          </p:cNvSpPr>
          <p:nvPr/>
        </p:nvSpPr>
        <p:spPr>
          <a:xfrm xmlns:a="http://schemas.openxmlformats.org/drawingml/2006/main">
            <a:off x="4248150" y="3657600"/>
            <a:ext cx="2724150" cy="1104900"/>
          </a:xfrm>
          <a:prstGeom xmlns:a="http://schemas.openxmlformats.org/drawingml/2006/main" prst="roundRect">
            <a:avLst>
              <a:gd name="adj" fmla="val 10345"/>
            </a:avLst>
          </a:prstGeom>
          <a:solidFill xmlns:a="http://schemas.openxmlformats.org/drawingml/2006/main">
            <a:srgbClr val="C56A09"/>
          </a:solidFill>
          <a:ln xmlns:a="http://schemas.openxmlformats.org/drawingml/2006/main" w="0">
            <a:solidFill>
              <a:srgbClr val="C56A09"/>
            </a:solidFill>
            <a:prstDash val="solid"/>
          </a:ln>
        </p:spPr>
      </p:sp>
      <p:sp>
        <p:nvSpPr>
          <p:cNvPr id="9" name="">
            <a:extLst xmlns:a="http://schemas.openxmlformats.org/drawingml/2006/main">
              <a:ext uri="{FF2B5EF4-FFF2-40B4-BE49-F238E27FC236}">
                <a16:creationId xmlns:a16="http://schemas.microsoft.com/office/drawing/2014/main" id="{37641DC9-166F-49CD-8095-FA4C6346DE41}"/>
              </a:ext>
            </a:extLst>
          </p:cNvPr>
          <p:cNvSpPr>
            <a:spLocks xmlns:a="http://schemas.openxmlformats.org/drawingml/2006/main" noGrp="1"/>
          </p:cNvSpPr>
          <p:nvPr/>
        </p:nvSpPr>
        <p:spPr>
          <a:xfrm xmlns:a="http://schemas.openxmlformats.org/drawingml/2006/main">
            <a:off x="4495800" y="3848100"/>
            <a:ext cx="819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C1</a:t>
            </a:r>
          </a:p>
        </p:txBody>
      </p:sp>
      <p:sp>
        <p:nvSpPr>
          <p:cNvPr id="10" name="">
            <a:extLst xmlns:a="http://schemas.openxmlformats.org/drawingml/2006/main">
              <a:ext uri="{FF2B5EF4-FFF2-40B4-BE49-F238E27FC236}">
                <a16:creationId xmlns:a16="http://schemas.microsoft.com/office/drawing/2014/main" id="{A0855660-FFA8-4A72-BC0B-1B63572636FD}"/>
              </a:ext>
            </a:extLst>
          </p:cNvPr>
          <p:cNvSpPr>
            <a:spLocks xmlns:a="http://schemas.openxmlformats.org/drawingml/2006/main" noGrp="1"/>
          </p:cNvSpPr>
          <p:nvPr/>
        </p:nvSpPr>
        <p:spPr>
          <a:xfrm xmlns:a="http://schemas.openxmlformats.org/drawingml/2006/main">
            <a:off x="4495800" y="42672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Controllable</a:t>
            </a:r>
          </a:p>
        </p:txBody>
      </p:sp>
      <p:sp>
        <p:nvSpPr>
          <p:cNvPr id="11" name="">
            <a:extLst xmlns:a="http://schemas.openxmlformats.org/drawingml/2006/main">
              <a:ext uri="{FF2B5EF4-FFF2-40B4-BE49-F238E27FC236}">
                <a16:creationId xmlns:a16="http://schemas.microsoft.com/office/drawing/2014/main" id="{21B20E88-E9CD-498A-850F-80B5FACB55D8}"/>
              </a:ext>
            </a:extLst>
          </p:cNvPr>
          <p:cNvSpPr>
            <a:spLocks xmlns:a="http://schemas.openxmlformats.org/drawingml/2006/main" noGrp="1"/>
          </p:cNvSpPr>
          <p:nvPr/>
        </p:nvSpPr>
        <p:spPr>
          <a:xfrm xmlns:a="http://schemas.openxmlformats.org/drawingml/2006/main">
            <a:off x="7181850" y="3905250"/>
            <a:ext cx="45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600" b="1">
                <a:solidFill>
                  <a:srgbClr val="9DB0C3"/>
                </a:solidFill>
              </a:defRPr>
            </a:pPr>
            <a:r>
              <a:rPr sz="3600" b="1">
                <a:solidFill>
                  <a:srgbClr val="9DB0C3"/>
                </a:solidFill>
              </a:rPr>
              <a:t>=</a:t>
            </a:r>
          </a:p>
        </p:txBody>
      </p:sp>
      <p:sp>
        <p:nvSpPr>
          <p:cNvPr id="12" name="">
            <a:extLst xmlns:a="http://schemas.openxmlformats.org/drawingml/2006/main">
              <a:ext uri="{FF2B5EF4-FFF2-40B4-BE49-F238E27FC236}">
                <a16:creationId xmlns:a16="http://schemas.microsoft.com/office/drawing/2014/main" id="{6DDABAEC-BAB4-4413-B383-FE52D06AB4CF}"/>
              </a:ext>
            </a:extLst>
          </p:cNvPr>
          <p:cNvSpPr>
            <a:spLocks xmlns:a="http://schemas.openxmlformats.org/drawingml/2006/main" noGrp="1"/>
          </p:cNvSpPr>
          <p:nvPr/>
        </p:nvSpPr>
        <p:spPr>
          <a:xfrm xmlns:a="http://schemas.openxmlformats.org/drawingml/2006/main">
            <a:off x="7848600" y="3657600"/>
            <a:ext cx="3695700" cy="1104900"/>
          </a:xfrm>
          <a:prstGeom xmlns:a="http://schemas.openxmlformats.org/drawingml/2006/main" prst="roundRect">
            <a:avLst>
              <a:gd name="adj" fmla="val 10345"/>
            </a:avLst>
          </a:prstGeom>
          <a:solidFill xmlns:a="http://schemas.openxmlformats.org/drawingml/2006/main">
            <a:srgbClr val="18794E"/>
          </a:solidFill>
          <a:ln xmlns:a="http://schemas.openxmlformats.org/drawingml/2006/main" w="0">
            <a:solidFill>
              <a:srgbClr val="18794E"/>
            </a:solidFill>
            <a:prstDash val="solid"/>
          </a:ln>
        </p:spPr>
      </p:sp>
      <p:sp>
        <p:nvSpPr>
          <p:cNvPr id="13" name="">
            <a:extLst xmlns:a="http://schemas.openxmlformats.org/drawingml/2006/main">
              <a:ext uri="{FF2B5EF4-FFF2-40B4-BE49-F238E27FC236}">
                <a16:creationId xmlns:a16="http://schemas.microsoft.com/office/drawing/2014/main" id="{C1C76409-9738-4AB1-AA79-7840BD734F00}"/>
              </a:ext>
            </a:extLst>
          </p:cNvPr>
          <p:cNvSpPr>
            <a:spLocks xmlns:a="http://schemas.openxmlformats.org/drawingml/2006/main" noGrp="1"/>
          </p:cNvSpPr>
          <p:nvPr/>
        </p:nvSpPr>
        <p:spPr>
          <a:xfrm xmlns:a="http://schemas.openxmlformats.org/drawingml/2006/main">
            <a:off x="8115300" y="384810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75" b="1">
                <a:solidFill>
                  <a:srgbClr val="FFFFFF"/>
                </a:solidFill>
              </a:defRPr>
            </a:pPr>
            <a:r>
              <a:rPr sz="2175" b="1">
                <a:solidFill>
                  <a:srgbClr val="FFFFFF"/>
                </a:solidFill>
              </a:rPr>
              <a:t>DIGITAL TWIN MVP</a:t>
            </a:r>
          </a:p>
        </p:txBody>
      </p:sp>
      <p:sp>
        <p:nvSpPr>
          <p:cNvPr id="14" name="">
            <a:extLst xmlns:a="http://schemas.openxmlformats.org/drawingml/2006/main">
              <a:ext uri="{FF2B5EF4-FFF2-40B4-BE49-F238E27FC236}">
                <a16:creationId xmlns:a16="http://schemas.microsoft.com/office/drawing/2014/main" id="{7E1E4241-F806-42E6-A1EE-6C2C59BAF5FF}"/>
              </a:ext>
            </a:extLst>
          </p:cNvPr>
          <p:cNvSpPr>
            <a:spLocks xmlns:a="http://schemas.openxmlformats.org/drawingml/2006/main" noGrp="1"/>
          </p:cNvSpPr>
          <p:nvPr/>
        </p:nvSpPr>
        <p:spPr>
          <a:xfrm xmlns:a="http://schemas.openxmlformats.org/drawingml/2006/main">
            <a:off x="8115300" y="43053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D7F1E3"/>
                </a:solidFill>
              </a:defRPr>
            </a:pPr>
            <a:r>
              <a:rPr sz="1350" b="0">
                <a:solidFill>
                  <a:srgbClr val="D7F1E3"/>
                </a:solidFill>
              </a:rPr>
              <a:t>bounded in-silico claim</a:t>
            </a:r>
          </a:p>
        </p:txBody>
      </p:sp>
      <p:sp>
        <p:nvSpPr>
          <p:cNvPr id="15" name="">
            <a:extLst xmlns:a="http://schemas.openxmlformats.org/drawingml/2006/main">
              <a:ext uri="{FF2B5EF4-FFF2-40B4-BE49-F238E27FC236}">
                <a16:creationId xmlns:a16="http://schemas.microsoft.com/office/drawing/2014/main" id="{F4B0CD40-5B2C-4081-A164-E082785DF7D8}"/>
              </a:ext>
            </a:extLst>
          </p:cNvPr>
          <p:cNvSpPr>
            <a:spLocks xmlns:a="http://schemas.openxmlformats.org/drawingml/2006/main" noGrp="1"/>
          </p:cNvSpPr>
          <p:nvPr/>
        </p:nvSpPr>
        <p:spPr>
          <a:xfrm xmlns:a="http://schemas.openxmlformats.org/drawingml/2006/main">
            <a:off x="647700" y="5334000"/>
            <a:ext cx="990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FFFFFF"/>
                </a:solidFill>
              </a:defRPr>
            </a:pPr>
            <a:r>
              <a:rPr sz="1800" b="0">
                <a:solidFill>
                  <a:srgbClr val="FFFFFF"/>
                </a:solidFill>
              </a:rPr>
              <a:t>M1 explains why C006 is the frozen twin. C1 tests whether that same C006 responds reproducibly to bounded causal control.</a:t>
            </a:r>
          </a:p>
        </p:txBody>
      </p:sp>
      <p:sp>
        <p:nvSpPr>
          <p:cNvPr id="16" name="">
            <a:extLst xmlns:a="http://schemas.openxmlformats.org/drawingml/2006/main">
              <a:ext uri="{FF2B5EF4-FFF2-40B4-BE49-F238E27FC236}">
                <a16:creationId xmlns:a16="http://schemas.microsoft.com/office/drawing/2014/main" id="{174E47FE-83F5-4F6F-9E73-BBDCF95CA47B}"/>
              </a:ext>
            </a:extLst>
          </p:cNvPr>
          <p:cNvSpPr>
            <a:spLocks xmlns:a="http://schemas.openxmlformats.org/drawingml/2006/main" noGrp="1"/>
          </p:cNvSpPr>
          <p:nvPr/>
        </p:nvSpPr>
        <p:spPr>
          <a:xfrm xmlns:a="http://schemas.openxmlformats.org/drawingml/2006/main">
            <a:off x="647700" y="63246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9DB0C3"/>
                </a:solidFill>
              </a:defRPr>
            </a:pPr>
            <a:r>
              <a:rPr sz="1125" b="0">
                <a:solidFill>
                  <a:srgbClr val="9DB0C3"/>
                </a:solidFill>
              </a:rPr>
              <a:t>Advisor / group meeting | August 2026</a:t>
            </a:r>
          </a:p>
        </p:txBody>
      </p:sp>
    </p:spTree>
    <p:extLst>
      <p:ext uri="{BB962C8B-B14F-4D97-AF65-F5344CB8AC3E}">
        <p14:creationId xmlns:p14="http://schemas.microsoft.com/office/powerpoint/2010/main" val="4528418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ection-label">
            <a:extLst xmlns:a="http://schemas.openxmlformats.org/drawingml/2006/main">
              <a:ext uri="{FF2B5EF4-FFF2-40B4-BE49-F238E27FC236}">
                <a16:creationId xmlns:a16="http://schemas.microsoft.com/office/drawing/2014/main" id="{A6E9FF0C-8084-4909-AE10-5964DC623F2F}"/>
              </a:ext>
            </a:extLst>
          </p:cNvPr>
          <p:cNvSpPr>
            <a:spLocks xmlns:a="http://schemas.openxmlformats.org/drawingml/2006/main" noGrp="1"/>
          </p:cNvSpPr>
          <p:nvPr/>
        </p:nvSpPr>
        <p:spPr>
          <a:xfrm xmlns:a="http://schemas.openxmlformats.org/drawingml/2006/main">
            <a:off x="647700" y="3238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E7490"/>
                </a:solidFill>
              </a:defRPr>
            </a:pPr>
            <a:r>
              <a:rPr sz="1200" b="1">
                <a:solidFill>
                  <a:srgbClr val="0E7490"/>
                </a:solidFill>
              </a:rPr>
              <a:t>M1 - WHY C006?</a:t>
            </a:r>
          </a:p>
        </p:txBody>
      </p:sp>
      <p:sp>
        <p:nvSpPr>
          <p:cNvPr id="2" name="slide-title">
            <a:extLst xmlns:a="http://schemas.openxmlformats.org/drawingml/2006/main">
              <a:ext uri="{FF2B5EF4-FFF2-40B4-BE49-F238E27FC236}">
                <a16:creationId xmlns:a16="http://schemas.microsoft.com/office/drawing/2014/main" id="{46B8DFAB-2BC4-45F4-B1A5-498566559C0F}"/>
              </a:ext>
            </a:extLst>
          </p:cNvPr>
          <p:cNvSpPr>
            <a:spLocks xmlns:a="http://schemas.openxmlformats.org/drawingml/2006/main" noGrp="1"/>
          </p:cNvSpPr>
          <p:nvPr/>
        </p:nvSpPr>
        <p:spPr>
          <a:xfrm xmlns:a="http://schemas.openxmlformats.org/drawingml/2006/main">
            <a:off x="647700" y="647700"/>
            <a:ext cx="10896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0B1F33"/>
                </a:solidFill>
              </a:defRPr>
            </a:pPr>
            <a:r>
              <a:rPr sz="3300" b="1">
                <a:solidFill>
                  <a:srgbClr val="0B1F33"/>
                </a:solidFill>
              </a:rPr>
              <a:t>C006 emerged under the frozen M1 selection rule</a:t>
            </a:r>
          </a:p>
        </p:txBody>
      </p:sp>
      <p:sp>
        <p:nvSpPr>
          <p:cNvPr id="3" name="">
            <a:extLst xmlns:a="http://schemas.openxmlformats.org/drawingml/2006/main">
              <a:ext uri="{FF2B5EF4-FFF2-40B4-BE49-F238E27FC236}">
                <a16:creationId xmlns:a16="http://schemas.microsoft.com/office/drawing/2014/main" id="{E7B9ADFA-C631-416A-BE06-67FD976468CE}"/>
              </a:ext>
            </a:extLst>
          </p:cNvPr>
          <p:cNvSpPr>
            <a:spLocks xmlns:a="http://schemas.openxmlformats.org/drawingml/2006/main" noGrp="1"/>
          </p:cNvSpPr>
          <p:nvPr/>
        </p:nvSpPr>
        <p:spPr>
          <a:xfrm xmlns:a="http://schemas.openxmlformats.org/drawingml/2006/main">
            <a:off x="647700" y="1304925"/>
            <a:ext cx="10896600" cy="19050"/>
          </a:xfrm>
          <a:prstGeom xmlns:a="http://schemas.openxmlformats.org/drawingml/2006/main" prst="rect">
            <a:avLst/>
          </a:prstGeom>
          <a:solidFill xmlns:a="http://schemas.openxmlformats.org/drawingml/2006/main">
            <a:srgbClr val="D7DEE5"/>
          </a:solidFill>
          <a:ln xmlns:a="http://schemas.openxmlformats.org/drawingml/2006/main" w="0">
            <a:solidFill>
              <a:srgbClr val="D7DEE5"/>
            </a:solidFill>
            <a:prstDash val="solid"/>
          </a:ln>
        </p:spPr>
      </p:sp>
      <p:sp>
        <p:nvSpPr>
          <p:cNvPr id="4" name="">
            <a:extLst xmlns:a="http://schemas.openxmlformats.org/drawingml/2006/main">
              <a:ext uri="{FF2B5EF4-FFF2-40B4-BE49-F238E27FC236}">
                <a16:creationId xmlns:a16="http://schemas.microsoft.com/office/drawing/2014/main" id="{59B3F4D2-ECF6-4B8C-8E84-2C8117ADA6AE}"/>
              </a:ext>
            </a:extLst>
          </p:cNvPr>
          <p:cNvSpPr>
            <a:spLocks xmlns:a="http://schemas.openxmlformats.org/drawingml/2006/main" noGrp="1"/>
          </p:cNvSpPr>
          <p:nvPr/>
        </p:nvSpPr>
        <p:spPr>
          <a:xfrm xmlns:a="http://schemas.openxmlformats.org/drawingml/2006/main">
            <a:off x="8020050" y="333375"/>
            <a:ext cx="3524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B6875"/>
                </a:solidFill>
              </a:defRPr>
            </a:pPr>
            <a:r>
              <a:rPr sz="1050" b="1">
                <a:solidFill>
                  <a:srgbClr val="5B6875"/>
                </a:solidFill>
              </a:rPr>
              <a:t>SYNTHESIS_FROM_EXISTING_M1_EVIDENCE</a:t>
            </a:r>
          </a:p>
        </p:txBody>
      </p:sp>
      <p:sp>
        <p:nvSpPr>
          <p:cNvPr id="5" name="">
            <a:extLst xmlns:a="http://schemas.openxmlformats.org/drawingml/2006/main">
              <a:ext uri="{FF2B5EF4-FFF2-40B4-BE49-F238E27FC236}">
                <a16:creationId xmlns:a16="http://schemas.microsoft.com/office/drawing/2014/main" id="{75A5D8B3-415C-4F30-8640-BADFCAF70E13}"/>
              </a:ext>
            </a:extLst>
          </p:cNvPr>
          <p:cNvSpPr>
            <a:spLocks xmlns:a="http://schemas.openxmlformats.org/drawingml/2006/main" noGrp="1"/>
          </p:cNvSpPr>
          <p:nvPr/>
        </p:nvSpPr>
        <p:spPr>
          <a:xfrm xmlns:a="http://schemas.openxmlformats.org/drawingml/2006/main">
            <a:off x="685800" y="15430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B1F33"/>
                </a:solidFill>
              </a:defRPr>
            </a:pPr>
            <a:r>
              <a:rPr sz="1875" b="1">
                <a:solidFill>
                  <a:srgbClr val="0B1F33"/>
                </a:solidFill>
              </a:rPr>
              <a:t>FIT selection</a:t>
            </a:r>
          </a:p>
        </p:txBody>
      </p:sp>
      <p:sp>
        <p:nvSpPr>
          <p:cNvPr id="6" name="">
            <a:extLst xmlns:a="http://schemas.openxmlformats.org/drawingml/2006/main">
              <a:ext uri="{FF2B5EF4-FFF2-40B4-BE49-F238E27FC236}">
                <a16:creationId xmlns:a16="http://schemas.microsoft.com/office/drawing/2014/main" id="{E454DA0D-2A0C-4A26-AADF-0712B44BEFA0}"/>
              </a:ext>
            </a:extLst>
          </p:cNvPr>
          <p:cNvSpPr>
            <a:spLocks xmlns:a="http://schemas.openxmlformats.org/drawingml/2006/main" noGrp="1"/>
          </p:cNvSpPr>
          <p:nvPr/>
        </p:nvSpPr>
        <p:spPr>
          <a:xfrm xmlns:a="http://schemas.openxmlformats.org/drawingml/2006/main">
            <a:off x="685800" y="18478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B6875"/>
                </a:solidFill>
              </a:defRPr>
            </a:pPr>
            <a:r>
              <a:rPr sz="1350" b="0">
                <a:solidFill>
                  <a:srgbClr val="5B6875"/>
                </a:solidFill>
              </a:rPr>
              <a:t>Lowest NRMSE after FIT-only affine calibration</a:t>
            </a:r>
          </a:p>
        </p:txBody>
      </p:sp>
      <p:graphicFrame>
        <p:nvGraphicFramePr>
          <p:cNvPr id="25" name="Chart"/>
          <p:cNvGraphicFramePr/>
          <p:nvPr/>
        </p:nvGraphicFramePr>
        <p:xfrm>
          <a:off xmlns:a="http://schemas.openxmlformats.org/drawingml/2006/main" x="647700" y="2209800"/>
          <a:ext xmlns:a="http://schemas.openxmlformats.org/drawingml/2006/main" cx="5715000" cy="3276600"/>
        </p:xfrm>
        <a:graphic xmlns:a="http://schemas.openxmlformats.org/drawingml/2006/main">
          <a:graphicData uri="http://schemas.openxmlformats.org/drawingml/2006/chart">
            <c:chart xmlns:r="http://schemas.openxmlformats.org/officeDocument/2006/relationships" xmlns:c="http://schemas.openxmlformats.org/drawingml/2006/chart" r:id="R17c09451506a4d5b"/>
          </a:graphicData>
        </a:graphic>
      </p:graphicFrame>
      <p:sp>
        <p:nvSpPr>
          <p:cNvPr id="8" name="">
            <a:extLst xmlns:a="http://schemas.openxmlformats.org/drawingml/2006/main">
              <a:ext uri="{FF2B5EF4-FFF2-40B4-BE49-F238E27FC236}">
                <a16:creationId xmlns:a16="http://schemas.microsoft.com/office/drawing/2014/main" id="{829440B1-DD0B-49F8-950B-B8FFEE262DD0}"/>
              </a:ext>
            </a:extLst>
          </p:cNvPr>
          <p:cNvSpPr>
            <a:spLocks xmlns:a="http://schemas.openxmlformats.org/drawingml/2006/main" noGrp="1"/>
          </p:cNvSpPr>
          <p:nvPr/>
        </p:nvSpPr>
        <p:spPr>
          <a:xfrm xmlns:a="http://schemas.openxmlformats.org/drawingml/2006/main">
            <a:off x="876300" y="5467350"/>
            <a:ext cx="521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B6875"/>
                </a:solidFill>
              </a:defRPr>
            </a:pPr>
            <a:r>
              <a:rPr sz="1200" b="0">
                <a:solidFill>
                  <a:srgbClr val="5B6875"/>
                </a:solidFill>
              </a:rPr>
              <a:t>All 16 candidates were evaluated; the four lowest plus matched C000 are shown.</a:t>
            </a:r>
          </a:p>
        </p:txBody>
      </p:sp>
      <p:sp>
        <p:nvSpPr>
          <p:cNvPr id="9" name="">
            <a:extLst xmlns:a="http://schemas.openxmlformats.org/drawingml/2006/main">
              <a:ext uri="{FF2B5EF4-FFF2-40B4-BE49-F238E27FC236}">
                <a16:creationId xmlns:a16="http://schemas.microsoft.com/office/drawing/2014/main" id="{715137FC-145A-4FDD-88FB-FA6D650EF273}"/>
              </a:ext>
            </a:extLst>
          </p:cNvPr>
          <p:cNvSpPr>
            <a:spLocks xmlns:a="http://schemas.openxmlformats.org/drawingml/2006/main" noGrp="1"/>
          </p:cNvSpPr>
          <p:nvPr/>
        </p:nvSpPr>
        <p:spPr>
          <a:xfrm xmlns:a="http://schemas.openxmlformats.org/drawingml/2006/main">
            <a:off x="6610350" y="1543050"/>
            <a:ext cx="19050" cy="0"/>
          </a:xfrm>
          <a:prstGeom xmlns:a="http://schemas.openxmlformats.org/drawingml/2006/main" prst="rect">
            <a:avLst/>
          </a:prstGeom>
          <a:ln xmlns:a="http://schemas.openxmlformats.org/drawingml/2006/main" w="0">
            <a:prstDash val="solid"/>
          </a:ln>
        </p:spPr>
      </p:sp>
      <p:sp>
        <p:nvSpPr>
          <p:cNvPr id="10" name="">
            <a:extLst xmlns:a="http://schemas.openxmlformats.org/drawingml/2006/main">
              <a:ext uri="{FF2B5EF4-FFF2-40B4-BE49-F238E27FC236}">
                <a16:creationId xmlns:a16="http://schemas.microsoft.com/office/drawing/2014/main" id="{37830615-C23D-408A-A8BF-CBAC0F1A291B}"/>
              </a:ext>
            </a:extLst>
          </p:cNvPr>
          <p:cNvSpPr>
            <a:spLocks xmlns:a="http://schemas.openxmlformats.org/drawingml/2006/main" noGrp="1"/>
          </p:cNvSpPr>
          <p:nvPr/>
        </p:nvSpPr>
        <p:spPr>
          <a:xfrm xmlns:a="http://schemas.openxmlformats.org/drawingml/2006/main">
            <a:off x="7010400" y="15430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B1F33"/>
                </a:solidFill>
              </a:defRPr>
            </a:pPr>
            <a:r>
              <a:rPr sz="1875" b="1">
                <a:solidFill>
                  <a:srgbClr val="0B1F33"/>
                </a:solidFill>
              </a:rPr>
              <a:t>Frozen HELDOUT check</a:t>
            </a:r>
          </a:p>
        </p:txBody>
      </p:sp>
      <p:sp>
        <p:nvSpPr>
          <p:cNvPr id="11" name="">
            <a:extLst xmlns:a="http://schemas.openxmlformats.org/drawingml/2006/main">
              <a:ext uri="{FF2B5EF4-FFF2-40B4-BE49-F238E27FC236}">
                <a16:creationId xmlns:a16="http://schemas.microsoft.com/office/drawing/2014/main" id="{845ECF90-34C1-4E65-A7F0-5B0061F8BB4F}"/>
              </a:ext>
            </a:extLst>
          </p:cNvPr>
          <p:cNvSpPr>
            <a:spLocks xmlns:a="http://schemas.openxmlformats.org/drawingml/2006/main" noGrp="1"/>
          </p:cNvSpPr>
          <p:nvPr/>
        </p:nvSpPr>
        <p:spPr>
          <a:xfrm xmlns:a="http://schemas.openxmlformats.org/drawingml/2006/main">
            <a:off x="7010400" y="184785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B6875"/>
                </a:solidFill>
              </a:defRPr>
            </a:pPr>
            <a:r>
              <a:rPr sz="1350" b="0">
                <a:solidFill>
                  <a:srgbClr val="5B6875"/>
                </a:solidFill>
              </a:rPr>
              <a:t>C006 was not reselected after HELDOUT access</a:t>
            </a:r>
          </a:p>
        </p:txBody>
      </p:sp>
      <p:graphicFrame>
        <p:nvGraphicFramePr>
          <p:cNvPr id="30" name="Chart"/>
          <p:cNvGraphicFramePr/>
          <p:nvPr/>
        </p:nvGraphicFramePr>
        <p:xfrm>
          <a:off xmlns:a="http://schemas.openxmlformats.org/drawingml/2006/main" x="7029450" y="2266950"/>
          <a:ext xmlns:a="http://schemas.openxmlformats.org/drawingml/2006/main" cx="4171950" cy="2266950"/>
        </p:xfrm>
        <a:graphic xmlns:a="http://schemas.openxmlformats.org/drawingml/2006/main">
          <a:graphicData uri="http://schemas.openxmlformats.org/drawingml/2006/chart">
            <c:chart xmlns:r="http://schemas.openxmlformats.org/officeDocument/2006/relationships" xmlns:c="http://schemas.openxmlformats.org/drawingml/2006/chart" r:id="R84d937a013cc438b"/>
          </a:graphicData>
        </a:graphic>
      </p:graphicFrame>
      <p:sp>
        <p:nvSpPr>
          <p:cNvPr id="13" name="">
            <a:extLst xmlns:a="http://schemas.openxmlformats.org/drawingml/2006/main">
              <a:ext uri="{FF2B5EF4-FFF2-40B4-BE49-F238E27FC236}">
                <a16:creationId xmlns:a16="http://schemas.microsoft.com/office/drawing/2014/main" id="{BF708739-0A67-47C0-BFDA-7BE4F82BBF85}"/>
              </a:ext>
            </a:extLst>
          </p:cNvPr>
          <p:cNvSpPr>
            <a:spLocks xmlns:a="http://schemas.openxmlformats.org/drawingml/2006/main" noGrp="1"/>
          </p:cNvSpPr>
          <p:nvPr/>
        </p:nvSpPr>
        <p:spPr>
          <a:xfrm xmlns:a="http://schemas.openxmlformats.org/drawingml/2006/main">
            <a:off x="7086600" y="4762500"/>
            <a:ext cx="2000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18794E"/>
                </a:solidFill>
              </a:defRPr>
            </a:pPr>
            <a:r>
              <a:rPr sz="3900" b="1">
                <a:solidFill>
                  <a:srgbClr val="18794E"/>
                </a:solidFill>
              </a:rPr>
              <a:t>46.6%</a:t>
            </a:r>
          </a:p>
        </p:txBody>
      </p:sp>
      <p:sp>
        <p:nvSpPr>
          <p:cNvPr id="14" name="">
            <a:extLst xmlns:a="http://schemas.openxmlformats.org/drawingml/2006/main">
              <a:ext uri="{FF2B5EF4-FFF2-40B4-BE49-F238E27FC236}">
                <a16:creationId xmlns:a16="http://schemas.microsoft.com/office/drawing/2014/main" id="{0C941DB6-630E-4F96-9046-60570E79BA6E}"/>
              </a:ext>
            </a:extLst>
          </p:cNvPr>
          <p:cNvSpPr>
            <a:spLocks xmlns:a="http://schemas.openxmlformats.org/drawingml/2006/main" noGrp="1"/>
          </p:cNvSpPr>
          <p:nvPr/>
        </p:nvSpPr>
        <p:spPr>
          <a:xfrm xmlns:a="http://schemas.openxmlformats.org/drawingml/2006/main">
            <a:off x="7086600" y="53149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B1F33"/>
                </a:solidFill>
              </a:defRPr>
            </a:pPr>
            <a:r>
              <a:rPr sz="1500" b="1">
                <a:solidFill>
                  <a:srgbClr val="0B1F33"/>
                </a:solidFill>
              </a:rPr>
              <a:t>relative HELDOUT NRMSE improvement</a:t>
            </a:r>
          </a:p>
        </p:txBody>
      </p:sp>
      <p:sp>
        <p:nvSpPr>
          <p:cNvPr id="15" name="">
            <a:extLst xmlns:a="http://schemas.openxmlformats.org/drawingml/2006/main">
              <a:ext uri="{FF2B5EF4-FFF2-40B4-BE49-F238E27FC236}">
                <a16:creationId xmlns:a16="http://schemas.microsoft.com/office/drawing/2014/main" id="{F5041198-729C-4AFA-A3A5-5FEF1EF3C3FE}"/>
              </a:ext>
            </a:extLst>
          </p:cNvPr>
          <p:cNvSpPr>
            <a:spLocks xmlns:a="http://schemas.openxmlformats.org/drawingml/2006/main" noGrp="1"/>
          </p:cNvSpPr>
          <p:nvPr/>
        </p:nvSpPr>
        <p:spPr>
          <a:xfrm xmlns:a="http://schemas.openxmlformats.org/drawingml/2006/main">
            <a:off x="7086600" y="563880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B6875"/>
                </a:solidFill>
              </a:defRPr>
            </a:pPr>
            <a:r>
              <a:rPr sz="1275" b="0">
                <a:solidFill>
                  <a:srgbClr val="5B6875"/>
                </a:solidFill>
              </a:rPr>
              <a:t>95% paired bootstrap CI: [0.0798, 0.1015]</a:t>
            </a:r>
          </a:p>
        </p:txBody>
      </p:sp>
      <p:sp>
        <p:nvSpPr>
          <p:cNvPr id="16" name="">
            <a:extLst xmlns:a="http://schemas.openxmlformats.org/drawingml/2006/main">
              <a:ext uri="{FF2B5EF4-FFF2-40B4-BE49-F238E27FC236}">
                <a16:creationId xmlns:a16="http://schemas.microsoft.com/office/drawing/2014/main" id="{2C0CE510-84F9-4DF3-9561-A27FB244AD37}"/>
              </a:ext>
            </a:extLst>
          </p:cNvPr>
          <p:cNvSpPr>
            <a:spLocks xmlns:a="http://schemas.openxmlformats.org/drawingml/2006/main" noGrp="1"/>
          </p:cNvSpPr>
          <p:nvPr/>
        </p:nvSpPr>
        <p:spPr>
          <a:xfrm xmlns:a="http://schemas.openxmlformats.org/drawingml/2006/main">
            <a:off x="647700" y="6438900"/>
            <a:ext cx="10896600" cy="9525"/>
          </a:xfrm>
          <a:prstGeom xmlns:a="http://schemas.openxmlformats.org/drawingml/2006/main" prst="rect">
            <a:avLst/>
          </a:prstGeom>
          <a:solidFill xmlns:a="http://schemas.openxmlformats.org/drawingml/2006/main">
            <a:srgbClr val="D7DEE5"/>
          </a:solidFill>
          <a:ln xmlns:a="http://schemas.openxmlformats.org/drawingml/2006/main" w="0">
            <a:solidFill>
              <a:srgbClr val="D7DEE5"/>
            </a:solidFill>
            <a:prstDash val="solid"/>
          </a:ln>
        </p:spPr>
      </p:sp>
      <p:sp>
        <p:nvSpPr>
          <p:cNvPr id="17" name="">
            <a:extLst xmlns:a="http://schemas.openxmlformats.org/drawingml/2006/main">
              <a:ext uri="{FF2B5EF4-FFF2-40B4-BE49-F238E27FC236}">
                <a16:creationId xmlns:a16="http://schemas.microsoft.com/office/drawing/2014/main" id="{B06CC633-686D-41DE-B5EE-3200C7B82914}"/>
              </a:ext>
            </a:extLst>
          </p:cNvPr>
          <p:cNvSpPr>
            <a:spLocks xmlns:a="http://schemas.openxmlformats.org/drawingml/2006/main" noGrp="1"/>
          </p:cNvSpPr>
          <p:nvPr/>
        </p:nvSpPr>
        <p:spPr>
          <a:xfrm xmlns:a="http://schemas.openxmlformats.org/drawingml/2006/main">
            <a:off x="647700" y="65151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B6875"/>
                </a:solidFill>
              </a:defRPr>
            </a:pPr>
            <a:r>
              <a:rPr sz="1050" b="0">
                <a:solidFill>
                  <a:srgbClr val="5B6875"/>
                </a:solidFill>
              </a:rPr>
              <a:t>Reliable + Controllable Digital Twin MVP</a:t>
            </a:r>
          </a:p>
        </p:txBody>
      </p:sp>
      <p:sp>
        <p:nvSpPr>
          <p:cNvPr id="18" name="">
            <a:extLst xmlns:a="http://schemas.openxmlformats.org/drawingml/2006/main">
              <a:ext uri="{FF2B5EF4-FFF2-40B4-BE49-F238E27FC236}">
                <a16:creationId xmlns:a16="http://schemas.microsoft.com/office/drawing/2014/main" id="{D003A6A6-7B64-435D-A1E9-0F767971ED03}"/>
              </a:ext>
            </a:extLst>
          </p:cNvPr>
          <p:cNvSpPr>
            <a:spLocks xmlns:a="http://schemas.openxmlformats.org/drawingml/2006/main" noGrp="1"/>
          </p:cNvSpPr>
          <p:nvPr/>
        </p:nvSpPr>
        <p:spPr>
          <a:xfrm xmlns:a="http://schemas.openxmlformats.org/drawingml/2006/main">
            <a:off x="11049000" y="65151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B6875"/>
                </a:solidFill>
              </a:defRPr>
            </a:pPr>
            <a:r>
              <a:rPr sz="1050" b="1">
                <a:solidFill>
                  <a:srgbClr val="5B6875"/>
                </a:solidFill>
              </a:rPr>
              <a:t>02</a:t>
            </a:r>
          </a:p>
        </p:txBody>
      </p:sp>
    </p:spTree>
    <p:extLst>
      <p:ext uri="{BB962C8B-B14F-4D97-AF65-F5344CB8AC3E}">
        <p14:creationId xmlns:p14="http://schemas.microsoft.com/office/powerpoint/2010/main" val="1166045229"/>
      </p:ext>
    </p:extLst>
  </p:cSld>
</p:sld>
</file>

<file path=ppt/slides/slide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36" name="section-label">
            <a:extLst xmlns:a="http://schemas.openxmlformats.org/drawingml/2006/main">
              <a:ext uri="{FF2B5EF4-FFF2-40B4-BE49-F238E27FC236}">
                <a16:creationId xmlns:a16="http://schemas.microsoft.com/office/drawing/2014/main" id="{D8EC6D8C-BE99-4AF8-A126-63D69A2C864C}"/>
              </a:ext>
            </a:extLst>
          </p:cNvPr>
          <p:cNvSpPr>
            <a:spLocks xmlns:a="http://schemas.openxmlformats.org/drawingml/2006/main" noGrp="1"/>
          </p:cNvSpPr>
          <p:nvPr/>
        </p:nvSpPr>
        <p:spPr>
          <a:xfrm xmlns:a="http://schemas.openxmlformats.org/drawingml/2006/main">
            <a:off x="647700" y="3238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E7490"/>
                </a:solidFill>
              </a:defRPr>
            </a:pPr>
            <a:r>
              <a:rPr sz="1200" b="1">
                <a:solidFill>
                  <a:srgbClr val="0E7490"/>
                </a:solidFill>
              </a:rPr>
              <a:t>M1 - FREEZE + CREDIBILITY</a:t>
            </a:r>
          </a:p>
        </p:txBody>
      </p:sp>
      <p:sp>
        <p:nvSpPr>
          <p:cNvPr id="2" name="slide-title">
            <a:extLst xmlns:a="http://schemas.openxmlformats.org/drawingml/2006/main">
              <a:ext uri="{FF2B5EF4-FFF2-40B4-BE49-F238E27FC236}">
                <a16:creationId xmlns:a16="http://schemas.microsoft.com/office/drawing/2014/main" id="{197DAA8A-4829-42E3-8FB8-FC95A540C9D4}"/>
              </a:ext>
            </a:extLst>
          </p:cNvPr>
          <p:cNvSpPr>
            <a:spLocks xmlns:a="http://schemas.openxmlformats.org/drawingml/2006/main" noGrp="1"/>
          </p:cNvSpPr>
          <p:nvPr/>
        </p:nvSpPr>
        <p:spPr>
          <a:xfrm xmlns:a="http://schemas.openxmlformats.org/drawingml/2006/main">
            <a:off x="647700" y="647700"/>
            <a:ext cx="10896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0B1F33"/>
                </a:solidFill>
              </a:defRPr>
            </a:pPr>
            <a:r>
              <a:rPr sz="3300" b="1">
                <a:solidFill>
                  <a:srgbClr val="0B1F33"/>
                </a:solidFill>
              </a:rPr>
              <a:t>The reliable-twin chain was frozen before controller research</a:t>
            </a:r>
          </a:p>
        </p:txBody>
      </p:sp>
      <p:sp>
        <p:nvSpPr>
          <p:cNvPr id="3" name="">
            <a:extLst xmlns:a="http://schemas.openxmlformats.org/drawingml/2006/main">
              <a:ext uri="{FF2B5EF4-FFF2-40B4-BE49-F238E27FC236}">
                <a16:creationId xmlns:a16="http://schemas.microsoft.com/office/drawing/2014/main" id="{CFAADD3C-4295-4098-B8BB-D3D599288B26}"/>
              </a:ext>
            </a:extLst>
          </p:cNvPr>
          <p:cNvSpPr>
            <a:spLocks xmlns:a="http://schemas.openxmlformats.org/drawingml/2006/main" noGrp="1"/>
          </p:cNvSpPr>
          <p:nvPr/>
        </p:nvSpPr>
        <p:spPr>
          <a:xfrm xmlns:a="http://schemas.openxmlformats.org/drawingml/2006/main">
            <a:off x="647700" y="1304925"/>
            <a:ext cx="10896600" cy="19050"/>
          </a:xfrm>
          <a:prstGeom xmlns:a="http://schemas.openxmlformats.org/drawingml/2006/main" prst="rect">
            <a:avLst/>
          </a:prstGeom>
          <a:solidFill xmlns:a="http://schemas.openxmlformats.org/drawingml/2006/main">
            <a:srgbClr val="D7DEE5"/>
          </a:solidFill>
          <a:ln xmlns:a="http://schemas.openxmlformats.org/drawingml/2006/main" w="0">
            <a:solidFill>
              <a:srgbClr val="D7DEE5"/>
            </a:solidFill>
            <a:prstDash val="solid"/>
          </a:ln>
        </p:spPr>
      </p:sp>
      <p:sp>
        <p:nvSpPr>
          <p:cNvPr id="4" name="">
            <a:extLst xmlns:a="http://schemas.openxmlformats.org/drawingml/2006/main">
              <a:ext uri="{FF2B5EF4-FFF2-40B4-BE49-F238E27FC236}">
                <a16:creationId xmlns:a16="http://schemas.microsoft.com/office/drawing/2014/main" id="{63B7586D-D6DB-47BF-B5E1-1AE001B0BB37}"/>
              </a:ext>
            </a:extLst>
          </p:cNvPr>
          <p:cNvSpPr>
            <a:spLocks xmlns:a="http://schemas.openxmlformats.org/drawingml/2006/main" noGrp="1"/>
          </p:cNvSpPr>
          <p:nvPr/>
        </p:nvSpPr>
        <p:spPr>
          <a:xfrm xmlns:a="http://schemas.openxmlformats.org/drawingml/2006/main">
            <a:off x="2647950" y="2724150"/>
            <a:ext cx="685800" cy="266700"/>
          </a:xfrm>
          <a:prstGeom xmlns:a="http://schemas.openxmlformats.org/drawingml/2006/main" prst="rightArrow">
            <a:avLst/>
          </a:prstGeom>
          <a:solidFill xmlns:a="http://schemas.openxmlformats.org/drawingml/2006/main">
            <a:srgbClr val="D7DEE5"/>
          </a:solidFill>
          <a:ln xmlns:a="http://schemas.openxmlformats.org/drawingml/2006/main" w="0">
            <a:solidFill>
              <a:srgbClr val="D7DEE5"/>
            </a:solidFill>
            <a:prstDash val="solid"/>
          </a:ln>
        </p:spPr>
      </p:sp>
      <p:sp>
        <p:nvSpPr>
          <p:cNvPr id="5" name="">
            <a:extLst xmlns:a="http://schemas.openxmlformats.org/drawingml/2006/main">
              <a:ext uri="{FF2B5EF4-FFF2-40B4-BE49-F238E27FC236}">
                <a16:creationId xmlns:a16="http://schemas.microsoft.com/office/drawing/2014/main" id="{298B3856-32D5-4FCA-A128-0C645F7FAB5C}"/>
              </a:ext>
            </a:extLst>
          </p:cNvPr>
          <p:cNvSpPr>
            <a:spLocks xmlns:a="http://schemas.openxmlformats.org/drawingml/2006/main" noGrp="1"/>
          </p:cNvSpPr>
          <p:nvPr/>
        </p:nvSpPr>
        <p:spPr>
          <a:xfrm xmlns:a="http://schemas.openxmlformats.org/drawingml/2006/main">
            <a:off x="5486400" y="2724150"/>
            <a:ext cx="685800" cy="266700"/>
          </a:xfrm>
          <a:prstGeom xmlns:a="http://schemas.openxmlformats.org/drawingml/2006/main" prst="rightArrow">
            <a:avLst/>
          </a:prstGeom>
          <a:solidFill xmlns:a="http://schemas.openxmlformats.org/drawingml/2006/main">
            <a:srgbClr val="D7DEE5"/>
          </a:solidFill>
          <a:ln xmlns:a="http://schemas.openxmlformats.org/drawingml/2006/main" w="0">
            <a:solidFill>
              <a:srgbClr val="D7DEE5"/>
            </a:solidFill>
            <a:prstDash val="solid"/>
          </a:ln>
        </p:spPr>
      </p:sp>
      <p:sp>
        <p:nvSpPr>
          <p:cNvPr id="6" name="">
            <a:extLst xmlns:a="http://schemas.openxmlformats.org/drawingml/2006/main">
              <a:ext uri="{FF2B5EF4-FFF2-40B4-BE49-F238E27FC236}">
                <a16:creationId xmlns:a16="http://schemas.microsoft.com/office/drawing/2014/main" id="{9F9835E4-30D1-4BB9-AD05-12F0A878660C}"/>
              </a:ext>
            </a:extLst>
          </p:cNvPr>
          <p:cNvSpPr>
            <a:spLocks xmlns:a="http://schemas.openxmlformats.org/drawingml/2006/main" noGrp="1"/>
          </p:cNvSpPr>
          <p:nvPr/>
        </p:nvSpPr>
        <p:spPr>
          <a:xfrm xmlns:a="http://schemas.openxmlformats.org/drawingml/2006/main">
            <a:off x="8324850" y="2724150"/>
            <a:ext cx="685800" cy="266700"/>
          </a:xfrm>
          <a:prstGeom xmlns:a="http://schemas.openxmlformats.org/drawingml/2006/main" prst="rightArrow">
            <a:avLst/>
          </a:prstGeom>
          <a:solidFill xmlns:a="http://schemas.openxmlformats.org/drawingml/2006/main">
            <a:srgbClr val="D7DEE5"/>
          </a:solidFill>
          <a:ln xmlns:a="http://schemas.openxmlformats.org/drawingml/2006/main" w="0">
            <a:solidFill>
              <a:srgbClr val="D7DEE5"/>
            </a:solidFill>
            <a:prstDash val="solid"/>
          </a:ln>
        </p:spPr>
      </p:sp>
      <p:sp>
        <p:nvSpPr>
          <p:cNvPr id="7" name="">
            <a:extLst xmlns:a="http://schemas.openxmlformats.org/drawingml/2006/main">
              <a:ext uri="{FF2B5EF4-FFF2-40B4-BE49-F238E27FC236}">
                <a16:creationId xmlns:a16="http://schemas.microsoft.com/office/drawing/2014/main" id="{39AB0645-D54E-4CFF-AB2D-BECEC551F451}"/>
              </a:ext>
            </a:extLst>
          </p:cNvPr>
          <p:cNvSpPr>
            <a:spLocks xmlns:a="http://schemas.openxmlformats.org/drawingml/2006/main" noGrp="1"/>
          </p:cNvSpPr>
          <p:nvPr/>
        </p:nvSpPr>
        <p:spPr>
          <a:xfrm xmlns:a="http://schemas.openxmlformats.org/drawingml/2006/main">
            <a:off x="666750" y="2057400"/>
            <a:ext cx="2362200" cy="1771650"/>
          </a:xfrm>
          <a:prstGeom xmlns:a="http://schemas.openxmlformats.org/drawingml/2006/main" prst="roundRect">
            <a:avLst>
              <a:gd name="adj" fmla="val 6452"/>
            </a:avLst>
          </a:prstGeom>
          <a:solidFill xmlns:a="http://schemas.openxmlformats.org/drawingml/2006/main">
            <a:srgbClr val="DDF2F5"/>
          </a:solidFill>
          <a:ln xmlns:a="http://schemas.openxmlformats.org/drawingml/2006/main" w="19050">
            <a:solidFill>
              <a:srgbClr val="0E7490"/>
            </a:solidFill>
            <a:prstDash val="solid"/>
          </a:ln>
        </p:spPr>
      </p:sp>
      <p:sp>
        <p:nvSpPr>
          <p:cNvPr id="8" name="">
            <a:extLst xmlns:a="http://schemas.openxmlformats.org/drawingml/2006/main">
              <a:ext uri="{FF2B5EF4-FFF2-40B4-BE49-F238E27FC236}">
                <a16:creationId xmlns:a16="http://schemas.microsoft.com/office/drawing/2014/main" id="{B53D16BB-D966-4527-933D-3BAAC0E2E330}"/>
              </a:ext>
            </a:extLst>
          </p:cNvPr>
          <p:cNvSpPr>
            <a:spLocks xmlns:a="http://schemas.openxmlformats.org/drawingml/2006/main" noGrp="1"/>
          </p:cNvSpPr>
          <p:nvPr/>
        </p:nvSpPr>
        <p:spPr>
          <a:xfrm xmlns:a="http://schemas.openxmlformats.org/drawingml/2006/main">
            <a:off x="666750" y="2057400"/>
            <a:ext cx="2362200" cy="76200"/>
          </a:xfrm>
          <a:prstGeom xmlns:a="http://schemas.openxmlformats.org/drawingml/2006/main" prst="rect">
            <a:avLst/>
          </a:prstGeom>
          <a:solidFill xmlns:a="http://schemas.openxmlformats.org/drawingml/2006/main">
            <a:srgbClr val="0E7490"/>
          </a:solidFill>
          <a:ln xmlns:a="http://schemas.openxmlformats.org/drawingml/2006/main" w="0">
            <a:solidFill>
              <a:srgbClr val="0E7490"/>
            </a:solidFill>
            <a:prstDash val="solid"/>
          </a:ln>
        </p:spPr>
      </p:sp>
      <p:sp>
        <p:nvSpPr>
          <p:cNvPr id="9" name="">
            <a:extLst xmlns:a="http://schemas.openxmlformats.org/drawingml/2006/main">
              <a:ext uri="{FF2B5EF4-FFF2-40B4-BE49-F238E27FC236}">
                <a16:creationId xmlns:a16="http://schemas.microsoft.com/office/drawing/2014/main" id="{0325A157-0C6E-4F69-8813-F75A32479BB7}"/>
              </a:ext>
            </a:extLst>
          </p:cNvPr>
          <p:cNvSpPr>
            <a:spLocks xmlns:a="http://schemas.openxmlformats.org/drawingml/2006/main" noGrp="1"/>
          </p:cNvSpPr>
          <p:nvPr/>
        </p:nvSpPr>
        <p:spPr>
          <a:xfrm xmlns:a="http://schemas.openxmlformats.org/drawingml/2006/main">
            <a:off x="838200" y="2324100"/>
            <a:ext cx="2019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0B1F33"/>
                </a:solidFill>
              </a:defRPr>
            </a:pPr>
            <a:r>
              <a:rPr sz="1725" b="1">
                <a:solidFill>
                  <a:srgbClr val="0B1F33"/>
                </a:solidFill>
              </a:rPr>
              <a:t>FIT comparison</a:t>
            </a:r>
          </a:p>
        </p:txBody>
      </p:sp>
      <p:sp>
        <p:nvSpPr>
          <p:cNvPr id="10" name="">
            <a:extLst xmlns:a="http://schemas.openxmlformats.org/drawingml/2006/main">
              <a:ext uri="{FF2B5EF4-FFF2-40B4-BE49-F238E27FC236}">
                <a16:creationId xmlns:a16="http://schemas.microsoft.com/office/drawing/2014/main" id="{FF5B27D2-5DE7-46B8-BD26-9BCAA005204B}"/>
              </a:ext>
            </a:extLst>
          </p:cNvPr>
          <p:cNvSpPr>
            <a:spLocks xmlns:a="http://schemas.openxmlformats.org/drawingml/2006/main" noGrp="1"/>
          </p:cNvSpPr>
          <p:nvPr/>
        </p:nvSpPr>
        <p:spPr>
          <a:xfrm xmlns:a="http://schemas.openxmlformats.org/drawingml/2006/main">
            <a:off x="838200" y="2914650"/>
            <a:ext cx="20193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17212B"/>
                </a:solidFill>
              </a:defRPr>
            </a:pPr>
            <a:r>
              <a:rPr sz="1350" b="0">
                <a:solidFill>
                  <a:srgbClr val="17212B"/>
                </a:solidFill>
              </a:rPr>
              <a:t>16 candidates</a:t>
            </a:r>
          </a:p>
          <a:p xmlns:a="http://schemas.openxmlformats.org/drawingml/2006/main">
            <a:pPr algn="ctr">
              <a:defRPr sz="1350" b="0">
                <a:solidFill>
                  <a:srgbClr val="17212B"/>
                </a:solidFill>
              </a:defRPr>
            </a:pPr>
            <a:r>
              <a:rPr sz="1350" b="0">
                <a:solidFill>
                  <a:srgbClr val="17212B"/>
                </a:solidFill>
              </a:rPr>
              <a:t>110 epochs</a:t>
            </a:r>
          </a:p>
          <a:p xmlns:a="http://schemas.openxmlformats.org/drawingml/2006/main">
            <a:pPr algn="ctr">
              <a:defRPr sz="1350" b="0">
                <a:solidFill>
                  <a:srgbClr val="17212B"/>
                </a:solidFill>
              </a:defRPr>
            </a:pPr>
            <a:r>
              <a:rPr sz="1350" b="0">
                <a:solidFill>
                  <a:srgbClr val="17212B"/>
                </a:solidFill>
              </a:rPr>
              <a:t>C006 NRMSE 0.2546</a:t>
            </a:r>
          </a:p>
        </p:txBody>
      </p:sp>
      <p:sp>
        <p:nvSpPr>
          <p:cNvPr id="11" name="">
            <a:extLst xmlns:a="http://schemas.openxmlformats.org/drawingml/2006/main">
              <a:ext uri="{FF2B5EF4-FFF2-40B4-BE49-F238E27FC236}">
                <a16:creationId xmlns:a16="http://schemas.microsoft.com/office/drawing/2014/main" id="{A81BF714-D540-469E-9450-5E04D8DA45F3}"/>
              </a:ext>
            </a:extLst>
          </p:cNvPr>
          <p:cNvSpPr>
            <a:spLocks xmlns:a="http://schemas.openxmlformats.org/drawingml/2006/main" noGrp="1"/>
          </p:cNvSpPr>
          <p:nvPr/>
        </p:nvSpPr>
        <p:spPr>
          <a:xfrm xmlns:a="http://schemas.openxmlformats.org/drawingml/2006/main">
            <a:off x="3505200" y="2057400"/>
            <a:ext cx="2362200" cy="177165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19050">
            <a:solidFill>
              <a:srgbClr val="0E7490"/>
            </a:solidFill>
            <a:prstDash val="solid"/>
          </a:ln>
        </p:spPr>
      </p:sp>
      <p:sp>
        <p:nvSpPr>
          <p:cNvPr id="12" name="">
            <a:extLst xmlns:a="http://schemas.openxmlformats.org/drawingml/2006/main">
              <a:ext uri="{FF2B5EF4-FFF2-40B4-BE49-F238E27FC236}">
                <a16:creationId xmlns:a16="http://schemas.microsoft.com/office/drawing/2014/main" id="{EFD651CB-D15B-47D3-80CB-7701CECD2E6F}"/>
              </a:ext>
            </a:extLst>
          </p:cNvPr>
          <p:cNvSpPr>
            <a:spLocks xmlns:a="http://schemas.openxmlformats.org/drawingml/2006/main" noGrp="1"/>
          </p:cNvSpPr>
          <p:nvPr/>
        </p:nvSpPr>
        <p:spPr>
          <a:xfrm xmlns:a="http://schemas.openxmlformats.org/drawingml/2006/main">
            <a:off x="3505200" y="2057400"/>
            <a:ext cx="2362200" cy="76200"/>
          </a:xfrm>
          <a:prstGeom xmlns:a="http://schemas.openxmlformats.org/drawingml/2006/main" prst="rect">
            <a:avLst/>
          </a:prstGeom>
          <a:solidFill xmlns:a="http://schemas.openxmlformats.org/drawingml/2006/main">
            <a:srgbClr val="0E7490"/>
          </a:solidFill>
          <a:ln xmlns:a="http://schemas.openxmlformats.org/drawingml/2006/main" w="0">
            <a:solidFill>
              <a:srgbClr val="0E7490"/>
            </a:solidFill>
            <a:prstDash val="solid"/>
          </a:ln>
        </p:spPr>
      </p:sp>
      <p:sp>
        <p:nvSpPr>
          <p:cNvPr id="13" name="">
            <a:extLst xmlns:a="http://schemas.openxmlformats.org/drawingml/2006/main">
              <a:ext uri="{FF2B5EF4-FFF2-40B4-BE49-F238E27FC236}">
                <a16:creationId xmlns:a16="http://schemas.microsoft.com/office/drawing/2014/main" id="{5BD10087-314F-4EE3-938A-389934D1E001}"/>
              </a:ext>
            </a:extLst>
          </p:cNvPr>
          <p:cNvSpPr>
            <a:spLocks xmlns:a="http://schemas.openxmlformats.org/drawingml/2006/main" noGrp="1"/>
          </p:cNvSpPr>
          <p:nvPr/>
        </p:nvSpPr>
        <p:spPr>
          <a:xfrm xmlns:a="http://schemas.openxmlformats.org/drawingml/2006/main">
            <a:off x="3676650" y="2324100"/>
            <a:ext cx="2019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0B1F33"/>
                </a:solidFill>
              </a:defRPr>
            </a:pPr>
            <a:r>
              <a:rPr sz="1725" b="1">
                <a:solidFill>
                  <a:srgbClr val="0B1F33"/>
                </a:solidFill>
              </a:rPr>
              <a:t>C006 frozen</a:t>
            </a:r>
          </a:p>
        </p:txBody>
      </p:sp>
      <p:sp>
        <p:nvSpPr>
          <p:cNvPr id="14" name="">
            <a:extLst xmlns:a="http://schemas.openxmlformats.org/drawingml/2006/main">
              <a:ext uri="{FF2B5EF4-FFF2-40B4-BE49-F238E27FC236}">
                <a16:creationId xmlns:a16="http://schemas.microsoft.com/office/drawing/2014/main" id="{1002E0C0-8F1E-4E10-937D-4674875CE7B6}"/>
              </a:ext>
            </a:extLst>
          </p:cNvPr>
          <p:cNvSpPr>
            <a:spLocks xmlns:a="http://schemas.openxmlformats.org/drawingml/2006/main" noGrp="1"/>
          </p:cNvSpPr>
          <p:nvPr/>
        </p:nvSpPr>
        <p:spPr>
          <a:xfrm xmlns:a="http://schemas.openxmlformats.org/drawingml/2006/main">
            <a:off x="3676650" y="2914650"/>
            <a:ext cx="20193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17212B"/>
                </a:solidFill>
              </a:defRPr>
            </a:pPr>
            <a:r>
              <a:rPr sz="1350" b="0">
                <a:solidFill>
                  <a:srgbClr val="17212B"/>
                </a:solidFill>
              </a:rPr>
              <a:t>Selection hash locked</a:t>
            </a:r>
          </a:p>
          <a:p xmlns:a="http://schemas.openxmlformats.org/drawingml/2006/main">
            <a:pPr algn="ctr">
              <a:defRPr sz="1350" b="0">
                <a:solidFill>
                  <a:srgbClr val="17212B"/>
                </a:solidFill>
              </a:defRPr>
            </a:pPr>
            <a:r>
              <a:rPr sz="1350" b="0">
                <a:solidFill>
                  <a:srgbClr val="17212B"/>
                </a:solidFill>
              </a:rPr>
              <a:t>before HELDOUT access</a:t>
            </a:r>
          </a:p>
        </p:txBody>
      </p:sp>
      <p:sp>
        <p:nvSpPr>
          <p:cNvPr id="15" name="">
            <a:extLst xmlns:a="http://schemas.openxmlformats.org/drawingml/2006/main">
              <a:ext uri="{FF2B5EF4-FFF2-40B4-BE49-F238E27FC236}">
                <a16:creationId xmlns:a16="http://schemas.microsoft.com/office/drawing/2014/main" id="{D941C3B6-712E-4D8B-9B00-0E33B4E26A46}"/>
              </a:ext>
            </a:extLst>
          </p:cNvPr>
          <p:cNvSpPr>
            <a:spLocks xmlns:a="http://schemas.openxmlformats.org/drawingml/2006/main" noGrp="1"/>
          </p:cNvSpPr>
          <p:nvPr/>
        </p:nvSpPr>
        <p:spPr>
          <a:xfrm xmlns:a="http://schemas.openxmlformats.org/drawingml/2006/main">
            <a:off x="6343650" y="2057400"/>
            <a:ext cx="2362200" cy="177165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19050">
            <a:solidFill>
              <a:srgbClr val="18794E"/>
            </a:solidFill>
            <a:prstDash val="solid"/>
          </a:ln>
        </p:spPr>
      </p:sp>
      <p:sp>
        <p:nvSpPr>
          <p:cNvPr id="16" name="">
            <a:extLst xmlns:a="http://schemas.openxmlformats.org/drawingml/2006/main">
              <a:ext uri="{FF2B5EF4-FFF2-40B4-BE49-F238E27FC236}">
                <a16:creationId xmlns:a16="http://schemas.microsoft.com/office/drawing/2014/main" id="{7F40ABCE-5710-4E41-AE51-11BADF6A809A}"/>
              </a:ext>
            </a:extLst>
          </p:cNvPr>
          <p:cNvSpPr>
            <a:spLocks xmlns:a="http://schemas.openxmlformats.org/drawingml/2006/main" noGrp="1"/>
          </p:cNvSpPr>
          <p:nvPr/>
        </p:nvSpPr>
        <p:spPr>
          <a:xfrm xmlns:a="http://schemas.openxmlformats.org/drawingml/2006/main">
            <a:off x="6343650" y="2057400"/>
            <a:ext cx="2362200" cy="76200"/>
          </a:xfrm>
          <a:prstGeom xmlns:a="http://schemas.openxmlformats.org/drawingml/2006/main" prst="rect">
            <a:avLst/>
          </a:prstGeom>
          <a:solidFill xmlns:a="http://schemas.openxmlformats.org/drawingml/2006/main">
            <a:srgbClr val="18794E"/>
          </a:solidFill>
          <a:ln xmlns:a="http://schemas.openxmlformats.org/drawingml/2006/main" w="0">
            <a:solidFill>
              <a:srgbClr val="18794E"/>
            </a:solidFill>
            <a:prstDash val="solid"/>
          </a:ln>
        </p:spPr>
      </p:sp>
      <p:sp>
        <p:nvSpPr>
          <p:cNvPr id="17" name="">
            <a:extLst xmlns:a="http://schemas.openxmlformats.org/drawingml/2006/main">
              <a:ext uri="{FF2B5EF4-FFF2-40B4-BE49-F238E27FC236}">
                <a16:creationId xmlns:a16="http://schemas.microsoft.com/office/drawing/2014/main" id="{9F6E3938-F078-4505-AC87-2273E74788BB}"/>
              </a:ext>
            </a:extLst>
          </p:cNvPr>
          <p:cNvSpPr>
            <a:spLocks xmlns:a="http://schemas.openxmlformats.org/drawingml/2006/main" noGrp="1"/>
          </p:cNvSpPr>
          <p:nvPr/>
        </p:nvSpPr>
        <p:spPr>
          <a:xfrm xmlns:a="http://schemas.openxmlformats.org/drawingml/2006/main">
            <a:off x="6515100" y="2324100"/>
            <a:ext cx="2019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0B1F33"/>
                </a:solidFill>
              </a:defRPr>
            </a:pPr>
            <a:r>
              <a:rPr sz="1725" b="1">
                <a:solidFill>
                  <a:srgbClr val="0B1F33"/>
                </a:solidFill>
              </a:rPr>
              <a:t>HELDOUT gate</a:t>
            </a:r>
          </a:p>
        </p:txBody>
      </p:sp>
      <p:sp>
        <p:nvSpPr>
          <p:cNvPr id="18" name="">
            <a:extLst xmlns:a="http://schemas.openxmlformats.org/drawingml/2006/main">
              <a:ext uri="{FF2B5EF4-FFF2-40B4-BE49-F238E27FC236}">
                <a16:creationId xmlns:a16="http://schemas.microsoft.com/office/drawing/2014/main" id="{62A6C083-5A6C-49C2-A918-4CCCC5BE46B5}"/>
              </a:ext>
            </a:extLst>
          </p:cNvPr>
          <p:cNvSpPr>
            <a:spLocks xmlns:a="http://schemas.openxmlformats.org/drawingml/2006/main" noGrp="1"/>
          </p:cNvSpPr>
          <p:nvPr/>
        </p:nvSpPr>
        <p:spPr>
          <a:xfrm xmlns:a="http://schemas.openxmlformats.org/drawingml/2006/main">
            <a:off x="6515100" y="2914650"/>
            <a:ext cx="20193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17212B"/>
                </a:solidFill>
              </a:defRPr>
            </a:pPr>
            <a:r>
              <a:rPr sz="1350" b="0">
                <a:solidFill>
                  <a:srgbClr val="17212B"/>
                </a:solidFill>
              </a:rPr>
              <a:t>110 epochs</a:t>
            </a:r>
          </a:p>
          <a:p xmlns:a="http://schemas.openxmlformats.org/drawingml/2006/main">
            <a:pPr algn="ctr">
              <a:defRPr sz="1350" b="0">
                <a:solidFill>
                  <a:srgbClr val="17212B"/>
                </a:solidFill>
              </a:defRPr>
            </a:pPr>
            <a:r>
              <a:rPr sz="1350" b="0">
                <a:solidFill>
                  <a:srgbClr val="17212B"/>
                </a:solidFill>
              </a:rPr>
              <a:t>46.6% vs C000</a:t>
            </a:r>
          </a:p>
          <a:p xmlns:a="http://schemas.openxmlformats.org/drawingml/2006/main">
            <a:pPr algn="ctr">
              <a:defRPr sz="1350" b="0">
                <a:solidFill>
                  <a:srgbClr val="17212B"/>
                </a:solidFill>
              </a:defRPr>
            </a:pPr>
            <a:r>
              <a:rPr sz="1350" b="0">
                <a:solidFill>
                  <a:srgbClr val="17212B"/>
                </a:solidFill>
              </a:rPr>
              <a:t>CI entirely &gt; 0</a:t>
            </a:r>
          </a:p>
        </p:txBody>
      </p:sp>
      <p:sp>
        <p:nvSpPr>
          <p:cNvPr id="19" name="">
            <a:extLst xmlns:a="http://schemas.openxmlformats.org/drawingml/2006/main">
              <a:ext uri="{FF2B5EF4-FFF2-40B4-BE49-F238E27FC236}">
                <a16:creationId xmlns:a16="http://schemas.microsoft.com/office/drawing/2014/main" id="{84C3A18C-C41A-422B-83EC-16A3EB0AF81F}"/>
              </a:ext>
            </a:extLst>
          </p:cNvPr>
          <p:cNvSpPr>
            <a:spLocks xmlns:a="http://schemas.openxmlformats.org/drawingml/2006/main" noGrp="1"/>
          </p:cNvSpPr>
          <p:nvPr/>
        </p:nvSpPr>
        <p:spPr>
          <a:xfrm xmlns:a="http://schemas.openxmlformats.org/drawingml/2006/main">
            <a:off x="9182100" y="2057400"/>
            <a:ext cx="2362200" cy="1771650"/>
          </a:xfrm>
          <a:prstGeom xmlns:a="http://schemas.openxmlformats.org/drawingml/2006/main" prst="roundRect">
            <a:avLst>
              <a:gd name="adj" fmla="val 6452"/>
            </a:avLst>
          </a:prstGeom>
          <a:solidFill xmlns:a="http://schemas.openxmlformats.org/drawingml/2006/main">
            <a:srgbClr val="E2F3EA"/>
          </a:solidFill>
          <a:ln xmlns:a="http://schemas.openxmlformats.org/drawingml/2006/main" w="19050">
            <a:solidFill>
              <a:srgbClr val="18794E"/>
            </a:solidFill>
            <a:prstDash val="solid"/>
          </a:ln>
        </p:spPr>
      </p:sp>
      <p:sp>
        <p:nvSpPr>
          <p:cNvPr id="20" name="">
            <a:extLst xmlns:a="http://schemas.openxmlformats.org/drawingml/2006/main">
              <a:ext uri="{FF2B5EF4-FFF2-40B4-BE49-F238E27FC236}">
                <a16:creationId xmlns:a16="http://schemas.microsoft.com/office/drawing/2014/main" id="{3C19D64A-9676-4058-BB73-B0DA9D77BFD4}"/>
              </a:ext>
            </a:extLst>
          </p:cNvPr>
          <p:cNvSpPr>
            <a:spLocks xmlns:a="http://schemas.openxmlformats.org/drawingml/2006/main" noGrp="1"/>
          </p:cNvSpPr>
          <p:nvPr/>
        </p:nvSpPr>
        <p:spPr>
          <a:xfrm xmlns:a="http://schemas.openxmlformats.org/drawingml/2006/main">
            <a:off x="9182100" y="2057400"/>
            <a:ext cx="2362200" cy="76200"/>
          </a:xfrm>
          <a:prstGeom xmlns:a="http://schemas.openxmlformats.org/drawingml/2006/main" prst="rect">
            <a:avLst/>
          </a:prstGeom>
          <a:solidFill xmlns:a="http://schemas.openxmlformats.org/drawingml/2006/main">
            <a:srgbClr val="18794E"/>
          </a:solidFill>
          <a:ln xmlns:a="http://schemas.openxmlformats.org/drawingml/2006/main" w="0">
            <a:solidFill>
              <a:srgbClr val="18794E"/>
            </a:solidFill>
            <a:prstDash val="solid"/>
          </a:ln>
        </p:spPr>
      </p:sp>
      <p:sp>
        <p:nvSpPr>
          <p:cNvPr id="21" name="">
            <a:extLst xmlns:a="http://schemas.openxmlformats.org/drawingml/2006/main">
              <a:ext uri="{FF2B5EF4-FFF2-40B4-BE49-F238E27FC236}">
                <a16:creationId xmlns:a16="http://schemas.microsoft.com/office/drawing/2014/main" id="{BD9CA015-4297-4CDC-8A3D-BDF0D13C41A3}"/>
              </a:ext>
            </a:extLst>
          </p:cNvPr>
          <p:cNvSpPr>
            <a:spLocks xmlns:a="http://schemas.openxmlformats.org/drawingml/2006/main" noGrp="1"/>
          </p:cNvSpPr>
          <p:nvPr/>
        </p:nvSpPr>
        <p:spPr>
          <a:xfrm xmlns:a="http://schemas.openxmlformats.org/drawingml/2006/main">
            <a:off x="9353550" y="2324100"/>
            <a:ext cx="2019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0B1F33"/>
                </a:solidFill>
              </a:defRPr>
            </a:pPr>
            <a:r>
              <a:rPr sz="1725" b="1">
                <a:solidFill>
                  <a:srgbClr val="0B1F33"/>
                </a:solidFill>
              </a:rPr>
              <a:t>Independent reproduction</a:t>
            </a:r>
          </a:p>
        </p:txBody>
      </p:sp>
      <p:sp>
        <p:nvSpPr>
          <p:cNvPr id="22" name="">
            <a:extLst xmlns:a="http://schemas.openxmlformats.org/drawingml/2006/main">
              <a:ext uri="{FF2B5EF4-FFF2-40B4-BE49-F238E27FC236}">
                <a16:creationId xmlns:a16="http://schemas.microsoft.com/office/drawing/2014/main" id="{21D90D28-01A9-41EA-8FF8-6E48DC10FFC4}"/>
              </a:ext>
            </a:extLst>
          </p:cNvPr>
          <p:cNvSpPr>
            <a:spLocks xmlns:a="http://schemas.openxmlformats.org/drawingml/2006/main" noGrp="1"/>
          </p:cNvSpPr>
          <p:nvPr/>
        </p:nvSpPr>
        <p:spPr>
          <a:xfrm xmlns:a="http://schemas.openxmlformats.org/drawingml/2006/main">
            <a:off x="9353550" y="2914650"/>
            <a:ext cx="20193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17212B"/>
                </a:solidFill>
              </a:defRPr>
            </a:pPr>
            <a:r>
              <a:rPr sz="1350" b="0">
                <a:solidFill>
                  <a:srgbClr val="17212B"/>
                </a:solidFill>
              </a:rPr>
              <a:t>G1-G7 PASS</a:t>
            </a:r>
          </a:p>
          <a:p xmlns:a="http://schemas.openxmlformats.org/drawingml/2006/main">
            <a:pPr algn="ctr">
              <a:defRPr sz="1350" b="0">
                <a:solidFill>
                  <a:srgbClr val="17212B"/>
                </a:solidFill>
              </a:defRPr>
            </a:pPr>
            <a:r>
              <a:rPr sz="1350" b="0">
                <a:solidFill>
                  <a:srgbClr val="17212B"/>
                </a:solidFill>
              </a:rPr>
              <a:t>No material disagreement</a:t>
            </a:r>
          </a:p>
        </p:txBody>
      </p:sp>
      <p:sp>
        <p:nvSpPr>
          <p:cNvPr id="23" name="">
            <a:extLst xmlns:a="http://schemas.openxmlformats.org/drawingml/2006/main">
              <a:ext uri="{FF2B5EF4-FFF2-40B4-BE49-F238E27FC236}">
                <a16:creationId xmlns:a16="http://schemas.microsoft.com/office/drawing/2014/main" id="{B224E7A4-3E34-493F-96A2-A5CCD5DDD68B}"/>
              </a:ext>
            </a:extLst>
          </p:cNvPr>
          <p:cNvSpPr>
            <a:spLocks xmlns:a="http://schemas.openxmlformats.org/drawingml/2006/main" noGrp="1"/>
          </p:cNvSpPr>
          <p:nvPr/>
        </p:nvSpPr>
        <p:spPr>
          <a:xfrm xmlns:a="http://schemas.openxmlformats.org/drawingml/2006/main">
            <a:off x="666750" y="432435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B1F33"/>
                </a:solidFill>
              </a:defRPr>
            </a:pPr>
            <a:r>
              <a:rPr sz="1875" b="1">
                <a:solidFill>
                  <a:srgbClr val="0B1F33"/>
                </a:solidFill>
              </a:rPr>
              <a:t>Provenance carried into C1</a:t>
            </a:r>
          </a:p>
        </p:txBody>
      </p:sp>
      <p:sp>
        <p:nvSpPr>
          <p:cNvPr id="24" name="">
            <a:extLst xmlns:a="http://schemas.openxmlformats.org/drawingml/2006/main">
              <a:ext uri="{FF2B5EF4-FFF2-40B4-BE49-F238E27FC236}">
                <a16:creationId xmlns:a16="http://schemas.microsoft.com/office/drawing/2014/main" id="{8859D1D2-1089-4E29-AED2-EC78E6F798BC}"/>
              </a:ext>
            </a:extLst>
          </p:cNvPr>
          <p:cNvSpPr>
            <a:spLocks xmlns:a="http://schemas.openxmlformats.org/drawingml/2006/main" noGrp="1"/>
          </p:cNvSpPr>
          <p:nvPr/>
        </p:nvSpPr>
        <p:spPr>
          <a:xfrm xmlns:a="http://schemas.openxmlformats.org/drawingml/2006/main">
            <a:off x="666750" y="48006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5B6875"/>
                </a:solidFill>
              </a:defRPr>
            </a:pPr>
            <a:r>
              <a:rPr sz="1200" b="1">
                <a:solidFill>
                  <a:srgbClr val="5B6875"/>
                </a:solidFill>
              </a:rPr>
              <a:t>protocol</a:t>
            </a:r>
          </a:p>
        </p:txBody>
      </p:sp>
      <p:sp>
        <p:nvSpPr>
          <p:cNvPr id="25" name="">
            <a:extLst xmlns:a="http://schemas.openxmlformats.org/drawingml/2006/main">
              <a:ext uri="{FF2B5EF4-FFF2-40B4-BE49-F238E27FC236}">
                <a16:creationId xmlns:a16="http://schemas.microsoft.com/office/drawing/2014/main" id="{C3204CA0-9C40-42E3-BD28-E0B7DB27C7D6}"/>
              </a:ext>
            </a:extLst>
          </p:cNvPr>
          <p:cNvSpPr>
            <a:spLocks xmlns:a="http://schemas.openxmlformats.org/drawingml/2006/main" noGrp="1"/>
          </p:cNvSpPr>
          <p:nvPr/>
        </p:nvSpPr>
        <p:spPr>
          <a:xfrm xmlns:a="http://schemas.openxmlformats.org/drawingml/2006/main">
            <a:off x="1714500" y="480060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E7490"/>
                </a:solidFill>
              </a:defRPr>
            </a:pPr>
            <a:r>
              <a:rPr sz="1350" b="1">
                <a:solidFill>
                  <a:srgbClr val="0E7490"/>
                </a:solidFill>
              </a:rPr>
              <a:t>338366...E3C3</a:t>
            </a:r>
          </a:p>
        </p:txBody>
      </p:sp>
      <p:sp>
        <p:nvSpPr>
          <p:cNvPr id="26" name="">
            <a:extLst xmlns:a="http://schemas.openxmlformats.org/drawingml/2006/main">
              <a:ext uri="{FF2B5EF4-FFF2-40B4-BE49-F238E27FC236}">
                <a16:creationId xmlns:a16="http://schemas.microsoft.com/office/drawing/2014/main" id="{AEABA0EB-FA5B-4138-9CF0-BCBCDD3327D7}"/>
              </a:ext>
            </a:extLst>
          </p:cNvPr>
          <p:cNvSpPr>
            <a:spLocks xmlns:a="http://schemas.openxmlformats.org/drawingml/2006/main" noGrp="1"/>
          </p:cNvSpPr>
          <p:nvPr/>
        </p:nvSpPr>
        <p:spPr>
          <a:xfrm xmlns:a="http://schemas.openxmlformats.org/drawingml/2006/main">
            <a:off x="4286250" y="480060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5B6875"/>
                </a:solidFill>
              </a:defRPr>
            </a:pPr>
            <a:r>
              <a:rPr sz="1200" b="1">
                <a:solidFill>
                  <a:srgbClr val="5B6875"/>
                </a:solidFill>
              </a:rPr>
              <a:t>model</a:t>
            </a:r>
          </a:p>
        </p:txBody>
      </p:sp>
      <p:sp>
        <p:nvSpPr>
          <p:cNvPr id="27" name="">
            <a:extLst xmlns:a="http://schemas.openxmlformats.org/drawingml/2006/main">
              <a:ext uri="{FF2B5EF4-FFF2-40B4-BE49-F238E27FC236}">
                <a16:creationId xmlns:a16="http://schemas.microsoft.com/office/drawing/2014/main" id="{AC9D587E-B0F6-493D-A40B-0C7476DCF541}"/>
              </a:ext>
            </a:extLst>
          </p:cNvPr>
          <p:cNvSpPr>
            <a:spLocks xmlns:a="http://schemas.openxmlformats.org/drawingml/2006/main" noGrp="1"/>
          </p:cNvSpPr>
          <p:nvPr/>
        </p:nvSpPr>
        <p:spPr>
          <a:xfrm xmlns:a="http://schemas.openxmlformats.org/drawingml/2006/main">
            <a:off x="5143500" y="480060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E7490"/>
                </a:solidFill>
              </a:defRPr>
            </a:pPr>
            <a:r>
              <a:rPr sz="1350" b="1">
                <a:solidFill>
                  <a:srgbClr val="0E7490"/>
                </a:solidFill>
              </a:rPr>
              <a:t>775A39...3869</a:t>
            </a:r>
          </a:p>
        </p:txBody>
      </p:sp>
      <p:sp>
        <p:nvSpPr>
          <p:cNvPr id="28" name="">
            <a:extLst xmlns:a="http://schemas.openxmlformats.org/drawingml/2006/main">
              <a:ext uri="{FF2B5EF4-FFF2-40B4-BE49-F238E27FC236}">
                <a16:creationId xmlns:a16="http://schemas.microsoft.com/office/drawing/2014/main" id="{0A1D8962-BA1C-41E5-8476-E3422ADE4C5D}"/>
              </a:ext>
            </a:extLst>
          </p:cNvPr>
          <p:cNvSpPr>
            <a:spLocks xmlns:a="http://schemas.openxmlformats.org/drawingml/2006/main" noGrp="1"/>
          </p:cNvSpPr>
          <p:nvPr/>
        </p:nvSpPr>
        <p:spPr>
          <a:xfrm xmlns:a="http://schemas.openxmlformats.org/drawingml/2006/main">
            <a:off x="7696200" y="48006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5B6875"/>
                </a:solidFill>
              </a:defRPr>
            </a:pPr>
            <a:r>
              <a:rPr sz="1200" b="1">
                <a:solidFill>
                  <a:srgbClr val="5B6875"/>
                </a:solidFill>
              </a:rPr>
              <a:t>selection</a:t>
            </a:r>
          </a:p>
        </p:txBody>
      </p:sp>
      <p:sp>
        <p:nvSpPr>
          <p:cNvPr id="29" name="">
            <a:extLst xmlns:a="http://schemas.openxmlformats.org/drawingml/2006/main">
              <a:ext uri="{FF2B5EF4-FFF2-40B4-BE49-F238E27FC236}">
                <a16:creationId xmlns:a16="http://schemas.microsoft.com/office/drawing/2014/main" id="{193E2720-55C4-4A77-8291-692882CC3794}"/>
              </a:ext>
            </a:extLst>
          </p:cNvPr>
          <p:cNvSpPr>
            <a:spLocks xmlns:a="http://schemas.openxmlformats.org/drawingml/2006/main" noGrp="1"/>
          </p:cNvSpPr>
          <p:nvPr/>
        </p:nvSpPr>
        <p:spPr>
          <a:xfrm xmlns:a="http://schemas.openxmlformats.org/drawingml/2006/main">
            <a:off x="8705850" y="480060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E7490"/>
                </a:solidFill>
              </a:defRPr>
            </a:pPr>
            <a:r>
              <a:rPr sz="1350" b="1">
                <a:solidFill>
                  <a:srgbClr val="0E7490"/>
                </a:solidFill>
              </a:rPr>
              <a:t>3D8C3D...8BBF</a:t>
            </a:r>
          </a:p>
        </p:txBody>
      </p:sp>
      <p:sp>
        <p:nvSpPr>
          <p:cNvPr id="30" name="">
            <a:extLst xmlns:a="http://schemas.openxmlformats.org/drawingml/2006/main">
              <a:ext uri="{FF2B5EF4-FFF2-40B4-BE49-F238E27FC236}">
                <a16:creationId xmlns:a16="http://schemas.microsoft.com/office/drawing/2014/main" id="{546D595B-0136-4B64-8C81-EC3C2AAACBB9}"/>
              </a:ext>
            </a:extLst>
          </p:cNvPr>
          <p:cNvSpPr>
            <a:spLocks xmlns:a="http://schemas.openxmlformats.org/drawingml/2006/main" noGrp="1"/>
          </p:cNvSpPr>
          <p:nvPr/>
        </p:nvSpPr>
        <p:spPr>
          <a:xfrm xmlns:a="http://schemas.openxmlformats.org/drawingml/2006/main">
            <a:off x="666750" y="5334000"/>
            <a:ext cx="10877550" cy="704850"/>
          </a:xfrm>
          <a:prstGeom xmlns:a="http://schemas.openxmlformats.org/drawingml/2006/main" prst="roundRect">
            <a:avLst>
              <a:gd name="adj" fmla="val 16216"/>
            </a:avLst>
          </a:prstGeom>
          <a:solidFill xmlns:a="http://schemas.openxmlformats.org/drawingml/2006/main">
            <a:srgbClr val="0B1F33"/>
          </a:solidFill>
          <a:ln xmlns:a="http://schemas.openxmlformats.org/drawingml/2006/main" w="0">
            <a:solidFill>
              <a:srgbClr val="0B1F33"/>
            </a:solidFill>
            <a:prstDash val="solid"/>
          </a:ln>
        </p:spPr>
      </p:sp>
      <p:sp>
        <p:nvSpPr>
          <p:cNvPr id="31" name="">
            <a:extLst xmlns:a="http://schemas.openxmlformats.org/drawingml/2006/main">
              <a:ext uri="{FF2B5EF4-FFF2-40B4-BE49-F238E27FC236}">
                <a16:creationId xmlns:a16="http://schemas.microsoft.com/office/drawing/2014/main" id="{B8008D6D-4F20-4075-8E07-8085356FB62C}"/>
              </a:ext>
            </a:extLst>
          </p:cNvPr>
          <p:cNvSpPr>
            <a:spLocks xmlns:a="http://schemas.openxmlformats.org/drawingml/2006/main" noGrp="1"/>
          </p:cNvSpPr>
          <p:nvPr/>
        </p:nvSpPr>
        <p:spPr>
          <a:xfrm xmlns:a="http://schemas.openxmlformats.org/drawingml/2006/main">
            <a:off x="876300" y="5514975"/>
            <a:ext cx="1257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DD3E8"/>
                </a:solidFill>
              </a:defRPr>
            </a:pPr>
            <a:r>
              <a:rPr sz="1650" b="1">
                <a:solidFill>
                  <a:srgbClr val="7DD3E8"/>
                </a:solidFill>
              </a:rPr>
              <a:t>Conclusion</a:t>
            </a:r>
          </a:p>
        </p:txBody>
      </p:sp>
      <p:sp>
        <p:nvSpPr>
          <p:cNvPr id="32" name="">
            <a:extLst xmlns:a="http://schemas.openxmlformats.org/drawingml/2006/main">
              <a:ext uri="{FF2B5EF4-FFF2-40B4-BE49-F238E27FC236}">
                <a16:creationId xmlns:a16="http://schemas.microsoft.com/office/drawing/2014/main" id="{4A48653E-BCC5-4B6E-A8D1-6A57CEACAA1C}"/>
              </a:ext>
            </a:extLst>
          </p:cNvPr>
          <p:cNvSpPr>
            <a:spLocks xmlns:a="http://schemas.openxmlformats.org/drawingml/2006/main" noGrp="1"/>
          </p:cNvSpPr>
          <p:nvPr/>
        </p:nvSpPr>
        <p:spPr>
          <a:xfrm xmlns:a="http://schemas.openxmlformats.org/drawingml/2006/main">
            <a:off x="2286000" y="5467350"/>
            <a:ext cx="876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C006 was frozen before controller research.</a:t>
            </a:r>
          </a:p>
        </p:txBody>
      </p:sp>
      <p:sp>
        <p:nvSpPr>
          <p:cNvPr id="33" name="">
            <a:extLst xmlns:a="http://schemas.openxmlformats.org/drawingml/2006/main">
              <a:ext uri="{FF2B5EF4-FFF2-40B4-BE49-F238E27FC236}">
                <a16:creationId xmlns:a16="http://schemas.microsoft.com/office/drawing/2014/main" id="{8AA1CDB3-17C3-4259-AAB7-1FB014088C72}"/>
              </a:ext>
            </a:extLst>
          </p:cNvPr>
          <p:cNvSpPr>
            <a:spLocks xmlns:a="http://schemas.openxmlformats.org/drawingml/2006/main" noGrp="1"/>
          </p:cNvSpPr>
          <p:nvPr/>
        </p:nvSpPr>
        <p:spPr>
          <a:xfrm xmlns:a="http://schemas.openxmlformats.org/drawingml/2006/main">
            <a:off x="647700" y="6438900"/>
            <a:ext cx="10896600" cy="9525"/>
          </a:xfrm>
          <a:prstGeom xmlns:a="http://schemas.openxmlformats.org/drawingml/2006/main" prst="rect">
            <a:avLst/>
          </a:prstGeom>
          <a:solidFill xmlns:a="http://schemas.openxmlformats.org/drawingml/2006/main">
            <a:srgbClr val="D7DEE5"/>
          </a:solidFill>
          <a:ln xmlns:a="http://schemas.openxmlformats.org/drawingml/2006/main" w="0">
            <a:solidFill>
              <a:srgbClr val="D7DEE5"/>
            </a:solidFill>
            <a:prstDash val="solid"/>
          </a:ln>
        </p:spPr>
      </p:sp>
      <p:sp>
        <p:nvSpPr>
          <p:cNvPr id="34" name="">
            <a:extLst xmlns:a="http://schemas.openxmlformats.org/drawingml/2006/main">
              <a:ext uri="{FF2B5EF4-FFF2-40B4-BE49-F238E27FC236}">
                <a16:creationId xmlns:a16="http://schemas.microsoft.com/office/drawing/2014/main" id="{50B58A0B-4757-4682-AEAC-F25BF9F4C95A}"/>
              </a:ext>
            </a:extLst>
          </p:cNvPr>
          <p:cNvSpPr>
            <a:spLocks xmlns:a="http://schemas.openxmlformats.org/drawingml/2006/main" noGrp="1"/>
          </p:cNvSpPr>
          <p:nvPr/>
        </p:nvSpPr>
        <p:spPr>
          <a:xfrm xmlns:a="http://schemas.openxmlformats.org/drawingml/2006/main">
            <a:off x="647700" y="65151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B6875"/>
                </a:solidFill>
              </a:defRPr>
            </a:pPr>
            <a:r>
              <a:rPr sz="1050" b="0">
                <a:solidFill>
                  <a:srgbClr val="5B6875"/>
                </a:solidFill>
              </a:rPr>
              <a:t>Reliable + Controllable Digital Twin MVP</a:t>
            </a:r>
          </a:p>
        </p:txBody>
      </p:sp>
      <p:sp>
        <p:nvSpPr>
          <p:cNvPr id="35" name="">
            <a:extLst xmlns:a="http://schemas.openxmlformats.org/drawingml/2006/main">
              <a:ext uri="{FF2B5EF4-FFF2-40B4-BE49-F238E27FC236}">
                <a16:creationId xmlns:a16="http://schemas.microsoft.com/office/drawing/2014/main" id="{D714FCCC-B4BA-4C2A-BD7C-1AD7A6BD5BCA}"/>
              </a:ext>
            </a:extLst>
          </p:cNvPr>
          <p:cNvSpPr>
            <a:spLocks xmlns:a="http://schemas.openxmlformats.org/drawingml/2006/main" noGrp="1"/>
          </p:cNvSpPr>
          <p:nvPr/>
        </p:nvSpPr>
        <p:spPr>
          <a:xfrm xmlns:a="http://schemas.openxmlformats.org/drawingml/2006/main">
            <a:off x="11049000" y="65151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B6875"/>
                </a:solidFill>
              </a:defRPr>
            </a:pPr>
            <a:r>
              <a:rPr sz="1050" b="1">
                <a:solidFill>
                  <a:srgbClr val="5B6875"/>
                </a:solidFill>
              </a:rPr>
              <a:t>03</a:t>
            </a:r>
          </a:p>
        </p:txBody>
      </p:sp>
    </p:spTree>
    <p:extLst>
      <p:ext uri="{BB962C8B-B14F-4D97-AF65-F5344CB8AC3E}">
        <p14:creationId xmlns:p14="http://schemas.microsoft.com/office/powerpoint/2010/main" val="97251962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section-label">
            <a:extLst xmlns:a="http://schemas.openxmlformats.org/drawingml/2006/main">
              <a:ext uri="{FF2B5EF4-FFF2-40B4-BE49-F238E27FC236}">
                <a16:creationId xmlns:a16="http://schemas.microsoft.com/office/drawing/2014/main" id="{FB7CFB68-D4D9-485C-A2BC-0BC59691DB82}"/>
              </a:ext>
            </a:extLst>
          </p:cNvPr>
          <p:cNvSpPr>
            <a:spLocks xmlns:a="http://schemas.openxmlformats.org/drawingml/2006/main" noGrp="1"/>
          </p:cNvSpPr>
          <p:nvPr/>
        </p:nvSpPr>
        <p:spPr>
          <a:xfrm xmlns:a="http://schemas.openxmlformats.org/drawingml/2006/main">
            <a:off x="647700" y="3238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C56A09"/>
                </a:solidFill>
              </a:defRPr>
            </a:pPr>
            <a:r>
              <a:rPr sz="1200" b="1">
                <a:solidFill>
                  <a:srgbClr val="C56A09"/>
                </a:solidFill>
              </a:rPr>
              <a:t>C1 - DEFINITION</a:t>
            </a:r>
          </a:p>
        </p:txBody>
      </p:sp>
      <p:sp>
        <p:nvSpPr>
          <p:cNvPr id="2" name="slide-title">
            <a:extLst xmlns:a="http://schemas.openxmlformats.org/drawingml/2006/main">
              <a:ext uri="{FF2B5EF4-FFF2-40B4-BE49-F238E27FC236}">
                <a16:creationId xmlns:a16="http://schemas.microsoft.com/office/drawing/2014/main" id="{D5B1DE26-F4DE-4566-9C09-68B9393F62D5}"/>
              </a:ext>
            </a:extLst>
          </p:cNvPr>
          <p:cNvSpPr>
            <a:spLocks xmlns:a="http://schemas.openxmlformats.org/drawingml/2006/main" noGrp="1"/>
          </p:cNvSpPr>
          <p:nvPr/>
        </p:nvSpPr>
        <p:spPr>
          <a:xfrm xmlns:a="http://schemas.openxmlformats.org/drawingml/2006/main">
            <a:off x="647700" y="647700"/>
            <a:ext cx="10896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0B1F33"/>
                </a:solidFill>
              </a:defRPr>
            </a:pPr>
            <a:r>
              <a:rPr sz="3300" b="1">
                <a:solidFill>
                  <a:srgbClr val="0B1F33"/>
                </a:solidFill>
              </a:rPr>
              <a:t>A reproducible T2 response defines controllability</a:t>
            </a:r>
          </a:p>
        </p:txBody>
      </p:sp>
      <p:sp>
        <p:nvSpPr>
          <p:cNvPr id="3" name="">
            <a:extLst xmlns:a="http://schemas.openxmlformats.org/drawingml/2006/main">
              <a:ext uri="{FF2B5EF4-FFF2-40B4-BE49-F238E27FC236}">
                <a16:creationId xmlns:a16="http://schemas.microsoft.com/office/drawing/2014/main" id="{41F20BD3-9A51-4068-8FC1-FC7E8CEA6E14}"/>
              </a:ext>
            </a:extLst>
          </p:cNvPr>
          <p:cNvSpPr>
            <a:spLocks xmlns:a="http://schemas.openxmlformats.org/drawingml/2006/main" noGrp="1"/>
          </p:cNvSpPr>
          <p:nvPr/>
        </p:nvSpPr>
        <p:spPr>
          <a:xfrm xmlns:a="http://schemas.openxmlformats.org/drawingml/2006/main">
            <a:off x="647700" y="1304925"/>
            <a:ext cx="10896600" cy="19050"/>
          </a:xfrm>
          <a:prstGeom xmlns:a="http://schemas.openxmlformats.org/drawingml/2006/main" prst="rect">
            <a:avLst/>
          </a:prstGeom>
          <a:solidFill xmlns:a="http://schemas.openxmlformats.org/drawingml/2006/main">
            <a:srgbClr val="D7DEE5"/>
          </a:solidFill>
          <a:ln xmlns:a="http://schemas.openxmlformats.org/drawingml/2006/main" w="0">
            <a:solidFill>
              <a:srgbClr val="D7DEE5"/>
            </a:solidFill>
            <a:prstDash val="solid"/>
          </a:ln>
        </p:spPr>
      </p:sp>
      <p:sp>
        <p:nvSpPr>
          <p:cNvPr id="4" name="">
            <a:extLst xmlns:a="http://schemas.openxmlformats.org/drawingml/2006/main">
              <a:ext uri="{FF2B5EF4-FFF2-40B4-BE49-F238E27FC236}">
                <a16:creationId xmlns:a16="http://schemas.microsoft.com/office/drawing/2014/main" id="{56A173CA-7997-4650-BD61-D8B6082984F6}"/>
              </a:ext>
            </a:extLst>
          </p:cNvPr>
          <p:cNvSpPr>
            <a:spLocks xmlns:a="http://schemas.openxmlformats.org/drawingml/2006/main" noGrp="1"/>
          </p:cNvSpPr>
          <p:nvPr/>
        </p:nvSpPr>
        <p:spPr>
          <a:xfrm xmlns:a="http://schemas.openxmlformats.org/drawingml/2006/main">
            <a:off x="3219450" y="2552700"/>
            <a:ext cx="857250" cy="304800"/>
          </a:xfrm>
          <a:prstGeom xmlns:a="http://schemas.openxmlformats.org/drawingml/2006/main" prst="rightArrow">
            <a:avLst/>
          </a:prstGeom>
          <a:solidFill xmlns:a="http://schemas.openxmlformats.org/drawingml/2006/main">
            <a:srgbClr val="D7DEE5"/>
          </a:solidFill>
          <a:ln xmlns:a="http://schemas.openxmlformats.org/drawingml/2006/main" w="0">
            <a:solidFill>
              <a:srgbClr val="D7DEE5"/>
            </a:solidFill>
            <a:prstDash val="solid"/>
          </a:ln>
        </p:spPr>
      </p:sp>
      <p:sp>
        <p:nvSpPr>
          <p:cNvPr id="5" name="">
            <a:extLst xmlns:a="http://schemas.openxmlformats.org/drawingml/2006/main">
              <a:ext uri="{FF2B5EF4-FFF2-40B4-BE49-F238E27FC236}">
                <a16:creationId xmlns:a16="http://schemas.microsoft.com/office/drawing/2014/main" id="{564F0F3C-7600-4553-953F-2D8DF2864FA7}"/>
              </a:ext>
            </a:extLst>
          </p:cNvPr>
          <p:cNvSpPr>
            <a:spLocks xmlns:a="http://schemas.openxmlformats.org/drawingml/2006/main" noGrp="1"/>
          </p:cNvSpPr>
          <p:nvPr/>
        </p:nvSpPr>
        <p:spPr>
          <a:xfrm xmlns:a="http://schemas.openxmlformats.org/drawingml/2006/main">
            <a:off x="6743700" y="2552700"/>
            <a:ext cx="857250" cy="304800"/>
          </a:xfrm>
          <a:prstGeom xmlns:a="http://schemas.openxmlformats.org/drawingml/2006/main" prst="rightArrow">
            <a:avLst/>
          </a:prstGeom>
          <a:solidFill xmlns:a="http://schemas.openxmlformats.org/drawingml/2006/main">
            <a:srgbClr val="D7DEE5"/>
          </a:solidFill>
          <a:ln xmlns:a="http://schemas.openxmlformats.org/drawingml/2006/main" w="0">
            <a:solidFill>
              <a:srgbClr val="D7DEE5"/>
            </a:solidFill>
            <a:prstDash val="solid"/>
          </a:ln>
        </p:spPr>
      </p:sp>
      <p:sp>
        <p:nvSpPr>
          <p:cNvPr id="6" name="">
            <a:extLst xmlns:a="http://schemas.openxmlformats.org/drawingml/2006/main">
              <a:ext uri="{FF2B5EF4-FFF2-40B4-BE49-F238E27FC236}">
                <a16:creationId xmlns:a16="http://schemas.microsoft.com/office/drawing/2014/main" id="{534353CA-A8E1-43F5-834D-184825648DF2}"/>
              </a:ext>
            </a:extLst>
          </p:cNvPr>
          <p:cNvSpPr>
            <a:spLocks xmlns:a="http://schemas.openxmlformats.org/drawingml/2006/main" noGrp="1"/>
          </p:cNvSpPr>
          <p:nvPr/>
        </p:nvSpPr>
        <p:spPr>
          <a:xfrm xmlns:a="http://schemas.openxmlformats.org/drawingml/2006/main">
            <a:off x="666750" y="1962150"/>
            <a:ext cx="2476500" cy="1485900"/>
          </a:xfrm>
          <a:prstGeom xmlns:a="http://schemas.openxmlformats.org/drawingml/2006/main" prst="roundRect">
            <a:avLst>
              <a:gd name="adj" fmla="val 7692"/>
            </a:avLst>
          </a:prstGeom>
          <a:solidFill xmlns:a="http://schemas.openxmlformats.org/drawingml/2006/main">
            <a:srgbClr val="DDF2F5"/>
          </a:solidFill>
          <a:ln xmlns:a="http://schemas.openxmlformats.org/drawingml/2006/main" w="19050">
            <a:solidFill>
              <a:srgbClr val="0E7490"/>
            </a:solidFill>
            <a:prstDash val="solid"/>
          </a:ln>
        </p:spPr>
      </p:sp>
      <p:sp>
        <p:nvSpPr>
          <p:cNvPr id="7" name="">
            <a:extLst xmlns:a="http://schemas.openxmlformats.org/drawingml/2006/main">
              <a:ext uri="{FF2B5EF4-FFF2-40B4-BE49-F238E27FC236}">
                <a16:creationId xmlns:a16="http://schemas.microsoft.com/office/drawing/2014/main" id="{FD331CA9-261D-4E0F-997E-94F514CD4B28}"/>
              </a:ext>
            </a:extLst>
          </p:cNvPr>
          <p:cNvSpPr>
            <a:spLocks xmlns:a="http://schemas.openxmlformats.org/drawingml/2006/main" noGrp="1"/>
          </p:cNvSpPr>
          <p:nvPr/>
        </p:nvSpPr>
        <p:spPr>
          <a:xfrm xmlns:a="http://schemas.openxmlformats.org/drawingml/2006/main">
            <a:off x="895350" y="2190750"/>
            <a:ext cx="2019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0B1F33"/>
                </a:solidFill>
              </a:defRPr>
            </a:pPr>
            <a:r>
              <a:rPr sz="2100" b="1">
                <a:solidFill>
                  <a:srgbClr val="0B1F33"/>
                </a:solidFill>
              </a:rPr>
              <a:t>Frozen C006</a:t>
            </a:r>
          </a:p>
        </p:txBody>
      </p:sp>
      <p:sp>
        <p:nvSpPr>
          <p:cNvPr id="8" name="">
            <a:extLst xmlns:a="http://schemas.openxmlformats.org/drawingml/2006/main">
              <a:ext uri="{FF2B5EF4-FFF2-40B4-BE49-F238E27FC236}">
                <a16:creationId xmlns:a16="http://schemas.microsoft.com/office/drawing/2014/main" id="{BE7C9191-C81F-43F2-B73D-ABDA7F293D53}"/>
              </a:ext>
            </a:extLst>
          </p:cNvPr>
          <p:cNvSpPr>
            <a:spLocks xmlns:a="http://schemas.openxmlformats.org/drawingml/2006/main" noGrp="1"/>
          </p:cNvSpPr>
          <p:nvPr/>
        </p:nvSpPr>
        <p:spPr>
          <a:xfrm xmlns:a="http://schemas.openxmlformats.org/drawingml/2006/main">
            <a:off x="895350" y="2686050"/>
            <a:ext cx="2019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17212B"/>
                </a:solidFill>
              </a:defRPr>
            </a:pPr>
            <a:r>
              <a:rPr sz="1350" b="0">
                <a:solidFill>
                  <a:srgbClr val="17212B"/>
                </a:solidFill>
              </a:rPr>
              <a:t>same M1 protocol</a:t>
            </a:r>
          </a:p>
          <a:p xmlns:a="http://schemas.openxmlformats.org/drawingml/2006/main">
            <a:pPr algn="ctr">
              <a:defRPr sz="1350" b="0">
                <a:solidFill>
                  <a:srgbClr val="17212B"/>
                </a:solidFill>
              </a:defRPr>
            </a:pPr>
            <a:r>
              <a:rPr sz="1350" b="0">
                <a:solidFill>
                  <a:srgbClr val="17212B"/>
                </a:solidFill>
              </a:rPr>
              <a:t>model + selection hashes</a:t>
            </a:r>
          </a:p>
        </p:txBody>
      </p:sp>
      <p:sp>
        <p:nvSpPr>
          <p:cNvPr id="9" name="">
            <a:extLst xmlns:a="http://schemas.openxmlformats.org/drawingml/2006/main">
              <a:ext uri="{FF2B5EF4-FFF2-40B4-BE49-F238E27FC236}">
                <a16:creationId xmlns:a16="http://schemas.microsoft.com/office/drawing/2014/main" id="{CF4C7455-E4FF-449F-98C6-FBB31503926D}"/>
              </a:ext>
            </a:extLst>
          </p:cNvPr>
          <p:cNvSpPr>
            <a:spLocks xmlns:a="http://schemas.openxmlformats.org/drawingml/2006/main" noGrp="1"/>
          </p:cNvSpPr>
          <p:nvPr/>
        </p:nvSpPr>
        <p:spPr>
          <a:xfrm xmlns:a="http://schemas.openxmlformats.org/drawingml/2006/main">
            <a:off x="4152900" y="1962150"/>
            <a:ext cx="2514600" cy="1485900"/>
          </a:xfrm>
          <a:prstGeom xmlns:a="http://schemas.openxmlformats.org/drawingml/2006/main" prst="roundRect">
            <a:avLst>
              <a:gd name="adj" fmla="val 7692"/>
            </a:avLst>
          </a:prstGeom>
          <a:solidFill xmlns:a="http://schemas.openxmlformats.org/drawingml/2006/main">
            <a:srgbClr val="FFF0D6"/>
          </a:solidFill>
          <a:ln xmlns:a="http://schemas.openxmlformats.org/drawingml/2006/main" w="19050">
            <a:solidFill>
              <a:srgbClr val="C56A09"/>
            </a:solidFill>
            <a:prstDash val="solid"/>
          </a:ln>
        </p:spPr>
      </p:sp>
      <p:sp>
        <p:nvSpPr>
          <p:cNvPr id="10" name="">
            <a:extLst xmlns:a="http://schemas.openxmlformats.org/drawingml/2006/main">
              <a:ext uri="{FF2B5EF4-FFF2-40B4-BE49-F238E27FC236}">
                <a16:creationId xmlns:a16="http://schemas.microsoft.com/office/drawing/2014/main" id="{5864BCAD-8D61-454F-ACD3-A5577622E805}"/>
              </a:ext>
            </a:extLst>
          </p:cNvPr>
          <p:cNvSpPr>
            <a:spLocks xmlns:a="http://schemas.openxmlformats.org/drawingml/2006/main" noGrp="1"/>
          </p:cNvSpPr>
          <p:nvPr/>
        </p:nvSpPr>
        <p:spPr>
          <a:xfrm xmlns:a="http://schemas.openxmlformats.org/drawingml/2006/main">
            <a:off x="4400550" y="2190750"/>
            <a:ext cx="2019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0B1F33"/>
                </a:solidFill>
              </a:defRPr>
            </a:pPr>
            <a:r>
              <a:rPr sz="2100" b="1">
                <a:solidFill>
                  <a:srgbClr val="0B1F33"/>
                </a:solidFill>
              </a:rPr>
              <a:t>Frozen F01</a:t>
            </a:r>
          </a:p>
        </p:txBody>
      </p:sp>
      <p:sp>
        <p:nvSpPr>
          <p:cNvPr id="11" name="">
            <a:extLst xmlns:a="http://schemas.openxmlformats.org/drawingml/2006/main">
              <a:ext uri="{FF2B5EF4-FFF2-40B4-BE49-F238E27FC236}">
                <a16:creationId xmlns:a16="http://schemas.microsoft.com/office/drawing/2014/main" id="{E0E3B8B3-991A-4F09-85E5-6F81ED8FA834}"/>
              </a:ext>
            </a:extLst>
          </p:cNvPr>
          <p:cNvSpPr>
            <a:spLocks xmlns:a="http://schemas.openxmlformats.org/drawingml/2006/main" noGrp="1"/>
          </p:cNvSpPr>
          <p:nvPr/>
        </p:nvSpPr>
        <p:spPr>
          <a:xfrm xmlns:a="http://schemas.openxmlformats.org/drawingml/2006/main">
            <a:off x="4400550" y="2686050"/>
            <a:ext cx="2019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17212B"/>
                </a:solidFill>
              </a:defRPr>
            </a:pPr>
            <a:r>
              <a:rPr sz="1350" b="0">
                <a:solidFill>
                  <a:srgbClr val="17212B"/>
                </a:solidFill>
              </a:rPr>
              <a:t>causal u_E pulses</a:t>
            </a:r>
          </a:p>
          <a:p xmlns:a="http://schemas.openxmlformats.org/drawingml/2006/main">
            <a:pPr algn="ctr">
              <a:defRPr sz="1350" b="0">
                <a:solidFill>
                  <a:srgbClr val="17212B"/>
                </a:solidFill>
              </a:defRPr>
            </a:pPr>
            <a:r>
              <a:rPr sz="1350" b="0">
                <a:solidFill>
                  <a:srgbClr val="17212B"/>
                </a:solidFill>
              </a:rPr>
              <a:t>0.045 inside [0, 0.05]</a:t>
            </a:r>
          </a:p>
        </p:txBody>
      </p:sp>
      <p:sp>
        <p:nvSpPr>
          <p:cNvPr id="12" name="">
            <a:extLst xmlns:a="http://schemas.openxmlformats.org/drawingml/2006/main">
              <a:ext uri="{FF2B5EF4-FFF2-40B4-BE49-F238E27FC236}">
                <a16:creationId xmlns:a16="http://schemas.microsoft.com/office/drawing/2014/main" id="{AC3D5BB2-9EFE-4696-976B-5110D789324C}"/>
              </a:ext>
            </a:extLst>
          </p:cNvPr>
          <p:cNvSpPr>
            <a:spLocks xmlns:a="http://schemas.openxmlformats.org/drawingml/2006/main" noGrp="1"/>
          </p:cNvSpPr>
          <p:nvPr/>
        </p:nvSpPr>
        <p:spPr>
          <a:xfrm xmlns:a="http://schemas.openxmlformats.org/drawingml/2006/main">
            <a:off x="7677150" y="1752600"/>
            <a:ext cx="3867150" cy="1905000"/>
          </a:xfrm>
          <a:prstGeom xmlns:a="http://schemas.openxmlformats.org/drawingml/2006/main" prst="roundRect">
            <a:avLst>
              <a:gd name="adj" fmla="val 6000"/>
            </a:avLst>
          </a:prstGeom>
          <a:solidFill xmlns:a="http://schemas.openxmlformats.org/drawingml/2006/main">
            <a:srgbClr val="E2F3EA"/>
          </a:solidFill>
          <a:ln xmlns:a="http://schemas.openxmlformats.org/drawingml/2006/main" w="19050">
            <a:solidFill>
              <a:srgbClr val="18794E"/>
            </a:solidFill>
            <a:prstDash val="solid"/>
          </a:ln>
        </p:spPr>
      </p:sp>
      <p:sp>
        <p:nvSpPr>
          <p:cNvPr id="13" name="">
            <a:extLst xmlns:a="http://schemas.openxmlformats.org/drawingml/2006/main">
              <a:ext uri="{FF2B5EF4-FFF2-40B4-BE49-F238E27FC236}">
                <a16:creationId xmlns:a16="http://schemas.microsoft.com/office/drawing/2014/main" id="{C26B51B5-CC60-4817-9539-02923EF4FFB7}"/>
              </a:ext>
            </a:extLst>
          </p:cNvPr>
          <p:cNvSpPr>
            <a:spLocks xmlns:a="http://schemas.openxmlformats.org/drawingml/2006/main" noGrp="1"/>
          </p:cNvSpPr>
          <p:nvPr/>
        </p:nvSpPr>
        <p:spPr>
          <a:xfrm xmlns:a="http://schemas.openxmlformats.org/drawingml/2006/main">
            <a:off x="7943850" y="198120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0B1F33"/>
                </a:solidFill>
              </a:defRPr>
            </a:pPr>
            <a:r>
              <a:rPr sz="2100" b="1">
                <a:solidFill>
                  <a:srgbClr val="0B1F33"/>
                </a:solidFill>
              </a:rPr>
              <a:t>Prospective response test</a:t>
            </a:r>
          </a:p>
        </p:txBody>
      </p:sp>
      <p:sp>
        <p:nvSpPr>
          <p:cNvPr id="14" name="">
            <a:extLst xmlns:a="http://schemas.openxmlformats.org/drawingml/2006/main">
              <a:ext uri="{FF2B5EF4-FFF2-40B4-BE49-F238E27FC236}">
                <a16:creationId xmlns:a16="http://schemas.microsoft.com/office/drawing/2014/main" id="{9B745915-459D-4122-91CD-0CE07E1E64E6}"/>
              </a:ext>
            </a:extLst>
          </p:cNvPr>
          <p:cNvSpPr>
            <a:spLocks xmlns:a="http://schemas.openxmlformats.org/drawingml/2006/main" noGrp="1"/>
          </p:cNvSpPr>
          <p:nvPr/>
        </p:nvSpPr>
        <p:spPr>
          <a:xfrm xmlns:a="http://schemas.openxmlformats.org/drawingml/2006/main">
            <a:off x="7943850" y="2457450"/>
            <a:ext cx="3333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0">
                <a:solidFill>
                  <a:srgbClr val="17212B"/>
                </a:solidFill>
              </a:defRPr>
            </a:pPr>
            <a:r>
              <a:rPr sz="1425" b="0">
                <a:solidFill>
                  <a:srgbClr val="17212B"/>
                </a:solidFill>
              </a:rPr>
              <a:t>Matched SHAM</a:t>
            </a:r>
          </a:p>
          <a:p xmlns:a="http://schemas.openxmlformats.org/drawingml/2006/main">
            <a:pPr algn="ctr">
              <a:defRPr sz="1425" b="0">
                <a:solidFill>
                  <a:srgbClr val="17212B"/>
                </a:solidFill>
              </a:defRPr>
            </a:pPr>
            <a:r>
              <a:rPr sz="1425" b="0">
                <a:solidFill>
                  <a:srgbClr val="17212B"/>
                </a:solidFill>
              </a:rPr>
              <a:t>3 fresh seeds</a:t>
            </a:r>
          </a:p>
          <a:p xmlns:a="http://schemas.openxmlformats.org/drawingml/2006/main">
            <a:pPr algn="ctr">
              <a:defRPr sz="1425" b="0">
                <a:solidFill>
                  <a:srgbClr val="17212B"/>
                </a:solidFill>
              </a:defRPr>
            </a:pPr>
            <a:r>
              <a:rPr sz="1425" b="0">
                <a:solidFill>
                  <a:srgbClr val="17212B"/>
                </a:solidFill>
              </a:rPr>
              <a:t>220 s + 910 s</a:t>
            </a:r>
          </a:p>
          <a:p xmlns:a="http://schemas.openxmlformats.org/drawingml/2006/main">
            <a:pPr algn="ctr">
              <a:defRPr sz="1425" b="0">
                <a:solidFill>
                  <a:srgbClr val="17212B"/>
                </a:solidFill>
              </a:defRPr>
            </a:pPr>
            <a:r>
              <a:rPr sz="1425" b="0">
                <a:solidFill>
                  <a:srgbClr val="17212B"/>
                </a:solidFill>
              </a:rPr>
              <a:t>Integrity vetoes</a:t>
            </a:r>
          </a:p>
        </p:txBody>
      </p:sp>
      <p:sp>
        <p:nvSpPr>
          <p:cNvPr id="15" name="">
            <a:extLst xmlns:a="http://schemas.openxmlformats.org/drawingml/2006/main">
              <a:ext uri="{FF2B5EF4-FFF2-40B4-BE49-F238E27FC236}">
                <a16:creationId xmlns:a16="http://schemas.microsoft.com/office/drawing/2014/main" id="{0431F8FE-E320-4882-A714-1439C8BF94F3}"/>
              </a:ext>
            </a:extLst>
          </p:cNvPr>
          <p:cNvSpPr>
            <a:spLocks xmlns:a="http://schemas.openxmlformats.org/drawingml/2006/main" noGrp="1"/>
          </p:cNvSpPr>
          <p:nvPr/>
        </p:nvSpPr>
        <p:spPr>
          <a:xfrm xmlns:a="http://schemas.openxmlformats.org/drawingml/2006/main">
            <a:off x="666750" y="40957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B1F33"/>
                </a:solidFill>
              </a:defRPr>
            </a:pPr>
            <a:r>
              <a:rPr sz="1875" b="1">
                <a:solidFill>
                  <a:srgbClr val="0B1F33"/>
                </a:solidFill>
              </a:rPr>
              <a:t>Target hierarchy</a:t>
            </a:r>
          </a:p>
        </p:txBody>
      </p:sp>
      <p:sp>
        <p:nvSpPr>
          <p:cNvPr id="16" name="">
            <a:extLst xmlns:a="http://schemas.openxmlformats.org/drawingml/2006/main">
              <a:ext uri="{FF2B5EF4-FFF2-40B4-BE49-F238E27FC236}">
                <a16:creationId xmlns:a16="http://schemas.microsoft.com/office/drawing/2014/main" id="{78FDF9A8-D5B1-49E6-9616-B61681486D6B}"/>
              </a:ext>
            </a:extLst>
          </p:cNvPr>
          <p:cNvSpPr>
            <a:spLocks xmlns:a="http://schemas.openxmlformats.org/drawingml/2006/main" noGrp="1"/>
          </p:cNvSpPr>
          <p:nvPr/>
        </p:nvSpPr>
        <p:spPr>
          <a:xfrm xmlns:a="http://schemas.openxmlformats.org/drawingml/2006/main">
            <a:off x="666750" y="4572000"/>
            <a:ext cx="1257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E7490"/>
                </a:solidFill>
              </a:defRPr>
            </a:pPr>
            <a:r>
              <a:rPr sz="1200" b="1">
                <a:solidFill>
                  <a:srgbClr val="0E7490"/>
                </a:solidFill>
              </a:rPr>
              <a:t>PRIMARY</a:t>
            </a:r>
          </a:p>
        </p:txBody>
      </p:sp>
      <p:sp>
        <p:nvSpPr>
          <p:cNvPr id="17" name="">
            <a:extLst xmlns:a="http://schemas.openxmlformats.org/drawingml/2006/main">
              <a:ext uri="{FF2B5EF4-FFF2-40B4-BE49-F238E27FC236}">
                <a16:creationId xmlns:a16="http://schemas.microsoft.com/office/drawing/2014/main" id="{9B7BE1C9-837E-4182-A3CF-6C5D899E0D5A}"/>
              </a:ext>
            </a:extLst>
          </p:cNvPr>
          <p:cNvSpPr>
            <a:spLocks xmlns:a="http://schemas.openxmlformats.org/drawingml/2006/main" noGrp="1"/>
          </p:cNvSpPr>
          <p:nvPr/>
        </p:nvSpPr>
        <p:spPr>
          <a:xfrm xmlns:a="http://schemas.openxmlformats.org/drawingml/2006/main">
            <a:off x="666750" y="4857750"/>
            <a:ext cx="1257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0B1F33"/>
                </a:solidFill>
              </a:defRPr>
            </a:pPr>
            <a:r>
              <a:rPr sz="3900" b="1">
                <a:solidFill>
                  <a:srgbClr val="0B1F33"/>
                </a:solidFill>
              </a:rPr>
              <a:t>T2</a:t>
            </a:r>
          </a:p>
        </p:txBody>
      </p:sp>
      <p:sp>
        <p:nvSpPr>
          <p:cNvPr id="18" name="">
            <a:extLst xmlns:a="http://schemas.openxmlformats.org/drawingml/2006/main">
              <a:ext uri="{FF2B5EF4-FFF2-40B4-BE49-F238E27FC236}">
                <a16:creationId xmlns:a16="http://schemas.microsoft.com/office/drawing/2014/main" id="{6482CD69-B2E5-4125-A047-F04CEB92271D}"/>
              </a:ext>
            </a:extLst>
          </p:cNvPr>
          <p:cNvSpPr>
            <a:spLocks xmlns:a="http://schemas.openxmlformats.org/drawingml/2006/main" noGrp="1"/>
          </p:cNvSpPr>
          <p:nvPr/>
        </p:nvSpPr>
        <p:spPr>
          <a:xfrm xmlns:a="http://schemas.openxmlformats.org/drawingml/2006/main">
            <a:off x="1733550" y="4819650"/>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212B"/>
                </a:solidFill>
              </a:defRPr>
            </a:pPr>
            <a:r>
              <a:rPr sz="1425" b="0">
                <a:solidFill>
                  <a:srgbClr val="17212B"/>
                </a:solidFill>
              </a:rPr>
              <a:t>paired relative response</a:t>
            </a:r>
          </a:p>
          <a:p xmlns:a="http://schemas.openxmlformats.org/drawingml/2006/main">
            <a:pPr algn="l">
              <a:defRPr sz="1425" b="0">
                <a:solidFill>
                  <a:srgbClr val="17212B"/>
                </a:solidFill>
              </a:defRPr>
            </a:pPr>
            <a:r>
              <a:rPr sz="1425" b="0">
                <a:solidFill>
                  <a:srgbClr val="17212B"/>
                </a:solidFill>
              </a:rPr>
              <a:t>desired direction &gt; 0</a:t>
            </a:r>
          </a:p>
        </p:txBody>
      </p:sp>
      <p:sp>
        <p:nvSpPr>
          <p:cNvPr id="19" name="">
            <a:extLst xmlns:a="http://schemas.openxmlformats.org/drawingml/2006/main">
              <a:ext uri="{FF2B5EF4-FFF2-40B4-BE49-F238E27FC236}">
                <a16:creationId xmlns:a16="http://schemas.microsoft.com/office/drawing/2014/main" id="{A195E876-79C7-4729-A4A7-CD304AAEF700}"/>
              </a:ext>
            </a:extLst>
          </p:cNvPr>
          <p:cNvSpPr>
            <a:spLocks xmlns:a="http://schemas.openxmlformats.org/drawingml/2006/main" noGrp="1"/>
          </p:cNvSpPr>
          <p:nvPr/>
        </p:nvSpPr>
        <p:spPr>
          <a:xfrm xmlns:a="http://schemas.openxmlformats.org/drawingml/2006/main">
            <a:off x="4438650" y="4419600"/>
            <a:ext cx="19050" cy="0"/>
          </a:xfrm>
          <a:prstGeom xmlns:a="http://schemas.openxmlformats.org/drawingml/2006/main" prst="rect">
            <a:avLst/>
          </a:prstGeom>
          <a:ln xmlns:a="http://schemas.openxmlformats.org/drawingml/2006/main" w="0">
            <a:prstDash val="solid"/>
          </a:ln>
        </p:spPr>
      </p:sp>
      <p:sp>
        <p:nvSpPr>
          <p:cNvPr id="20" name="">
            <a:extLst xmlns:a="http://schemas.openxmlformats.org/drawingml/2006/main">
              <a:ext uri="{FF2B5EF4-FFF2-40B4-BE49-F238E27FC236}">
                <a16:creationId xmlns:a16="http://schemas.microsoft.com/office/drawing/2014/main" id="{40F8AAB5-21C1-4FAD-B1FF-533586779F4A}"/>
              </a:ext>
            </a:extLst>
          </p:cNvPr>
          <p:cNvSpPr>
            <a:spLocks xmlns:a="http://schemas.openxmlformats.org/drawingml/2006/main" noGrp="1"/>
          </p:cNvSpPr>
          <p:nvPr/>
        </p:nvSpPr>
        <p:spPr>
          <a:xfrm xmlns:a="http://schemas.openxmlformats.org/drawingml/2006/main">
            <a:off x="4819650" y="45720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8794E"/>
                </a:solidFill>
              </a:defRPr>
            </a:pPr>
            <a:r>
              <a:rPr sz="1200" b="1">
                <a:solidFill>
                  <a:srgbClr val="18794E"/>
                </a:solidFill>
              </a:rPr>
              <a:t>SUPPORTING</a:t>
            </a:r>
          </a:p>
        </p:txBody>
      </p:sp>
      <p:sp>
        <p:nvSpPr>
          <p:cNvPr id="21" name="">
            <a:extLst xmlns:a="http://schemas.openxmlformats.org/drawingml/2006/main">
              <a:ext uri="{FF2B5EF4-FFF2-40B4-BE49-F238E27FC236}">
                <a16:creationId xmlns:a16="http://schemas.microsoft.com/office/drawing/2014/main" id="{50AA26BF-17E0-4245-8C2F-1E6F20BF2F59}"/>
              </a:ext>
            </a:extLst>
          </p:cNvPr>
          <p:cNvSpPr>
            <a:spLocks xmlns:a="http://schemas.openxmlformats.org/drawingml/2006/main" noGrp="1"/>
          </p:cNvSpPr>
          <p:nvPr/>
        </p:nvSpPr>
        <p:spPr>
          <a:xfrm xmlns:a="http://schemas.openxmlformats.org/drawingml/2006/main">
            <a:off x="4819650" y="4857750"/>
            <a:ext cx="161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0B1F33"/>
                </a:solidFill>
              </a:defRPr>
            </a:pPr>
            <a:r>
              <a:rPr sz="3300" b="1">
                <a:solidFill>
                  <a:srgbClr val="0B1F33"/>
                </a:solidFill>
              </a:rPr>
              <a:t>I_SO</a:t>
            </a:r>
          </a:p>
        </p:txBody>
      </p:sp>
      <p:sp>
        <p:nvSpPr>
          <p:cNvPr id="22" name="">
            <a:extLst xmlns:a="http://schemas.openxmlformats.org/drawingml/2006/main">
              <a:ext uri="{FF2B5EF4-FFF2-40B4-BE49-F238E27FC236}">
                <a16:creationId xmlns:a16="http://schemas.microsoft.com/office/drawing/2014/main" id="{23ADC788-9BFE-4D66-BD73-56470B2FCF31}"/>
              </a:ext>
            </a:extLst>
          </p:cNvPr>
          <p:cNvSpPr>
            <a:spLocks xmlns:a="http://schemas.openxmlformats.org/drawingml/2006/main" noGrp="1"/>
          </p:cNvSpPr>
          <p:nvPr/>
        </p:nvSpPr>
        <p:spPr>
          <a:xfrm xmlns:a="http://schemas.openxmlformats.org/drawingml/2006/main">
            <a:off x="4819650" y="54673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7212B"/>
                </a:solidFill>
              </a:defRPr>
            </a:pPr>
            <a:r>
              <a:rPr sz="1350" b="0">
                <a:solidFill>
                  <a:srgbClr val="17212B"/>
                </a:solidFill>
              </a:rPr>
              <a:t>independent corroboration</a:t>
            </a:r>
          </a:p>
        </p:txBody>
      </p:sp>
      <p:sp>
        <p:nvSpPr>
          <p:cNvPr id="23" name="">
            <a:extLst xmlns:a="http://schemas.openxmlformats.org/drawingml/2006/main">
              <a:ext uri="{FF2B5EF4-FFF2-40B4-BE49-F238E27FC236}">
                <a16:creationId xmlns:a16="http://schemas.microsoft.com/office/drawing/2014/main" id="{DCC03026-AB8D-4D57-BFA8-6CBC013413FC}"/>
              </a:ext>
            </a:extLst>
          </p:cNvPr>
          <p:cNvSpPr>
            <a:spLocks xmlns:a="http://schemas.openxmlformats.org/drawingml/2006/main" noGrp="1"/>
          </p:cNvSpPr>
          <p:nvPr/>
        </p:nvSpPr>
        <p:spPr>
          <a:xfrm xmlns:a="http://schemas.openxmlformats.org/drawingml/2006/main">
            <a:off x="7524750" y="4419600"/>
            <a:ext cx="19050" cy="0"/>
          </a:xfrm>
          <a:prstGeom xmlns:a="http://schemas.openxmlformats.org/drawingml/2006/main" prst="rect">
            <a:avLst/>
          </a:prstGeom>
          <a:ln xmlns:a="http://schemas.openxmlformats.org/drawingml/2006/main" w="0">
            <a:prstDash val="solid"/>
          </a:ln>
        </p:spPr>
      </p:sp>
      <p:sp>
        <p:nvSpPr>
          <p:cNvPr id="24" name="">
            <a:extLst xmlns:a="http://schemas.openxmlformats.org/drawingml/2006/main">
              <a:ext uri="{FF2B5EF4-FFF2-40B4-BE49-F238E27FC236}">
                <a16:creationId xmlns:a16="http://schemas.microsoft.com/office/drawing/2014/main" id="{B220B7CE-613C-4822-8CD8-C36BFB11BCCA}"/>
              </a:ext>
            </a:extLst>
          </p:cNvPr>
          <p:cNvSpPr>
            <a:spLocks xmlns:a="http://schemas.openxmlformats.org/drawingml/2006/main" noGrp="1"/>
          </p:cNvSpPr>
          <p:nvPr/>
        </p:nvSpPr>
        <p:spPr>
          <a:xfrm xmlns:a="http://schemas.openxmlformats.org/drawingml/2006/main">
            <a:off x="7905750" y="45720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42318"/>
                </a:solidFill>
              </a:defRPr>
            </a:pPr>
            <a:r>
              <a:rPr sz="1200" b="1">
                <a:solidFill>
                  <a:srgbClr val="B42318"/>
                </a:solidFill>
              </a:rPr>
              <a:t>SECONDARY - VISIBLE, NOT PRIMARY</a:t>
            </a:r>
          </a:p>
        </p:txBody>
      </p:sp>
      <p:sp>
        <p:nvSpPr>
          <p:cNvPr id="25" name="">
            <a:extLst xmlns:a="http://schemas.openxmlformats.org/drawingml/2006/main">
              <a:ext uri="{FF2B5EF4-FFF2-40B4-BE49-F238E27FC236}">
                <a16:creationId xmlns:a16="http://schemas.microsoft.com/office/drawing/2014/main" id="{F6E45372-D858-4E5F-9FC7-7D7CE7BEE5DA}"/>
              </a:ext>
            </a:extLst>
          </p:cNvPr>
          <p:cNvSpPr>
            <a:spLocks xmlns:a="http://schemas.openxmlformats.org/drawingml/2006/main" noGrp="1"/>
          </p:cNvSpPr>
          <p:nvPr/>
        </p:nvSpPr>
        <p:spPr>
          <a:xfrm xmlns:a="http://schemas.openxmlformats.org/drawingml/2006/main">
            <a:off x="7905750" y="4953000"/>
            <a:ext cx="342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7212B"/>
                </a:solidFill>
              </a:defRPr>
            </a:pPr>
            <a:r>
              <a:rPr sz="1500" b="1">
                <a:solidFill>
                  <a:srgbClr val="17212B"/>
                </a:solidFill>
              </a:rPr>
              <a:t>N_SO_MIN  |  I_SP  |  N_SP_MIN</a:t>
            </a:r>
          </a:p>
          <a:p xmlns:a="http://schemas.openxmlformats.org/drawingml/2006/main">
            <a:pPr algn="l">
              <a:defRPr sz="1500" b="1">
                <a:solidFill>
                  <a:srgbClr val="17212B"/>
                </a:solidFill>
              </a:defRPr>
            </a:pPr>
            <a:r>
              <a:rPr sz="1500" b="1">
                <a:solidFill>
                  <a:srgbClr val="17212B"/>
                </a:solidFill>
              </a:rPr>
              <a:t>P_SO  |  T6  |  P(C|SP)</a:t>
            </a:r>
          </a:p>
        </p:txBody>
      </p:sp>
      <p:sp>
        <p:nvSpPr>
          <p:cNvPr id="26" name="">
            <a:extLst xmlns:a="http://schemas.openxmlformats.org/drawingml/2006/main">
              <a:ext uri="{FF2B5EF4-FFF2-40B4-BE49-F238E27FC236}">
                <a16:creationId xmlns:a16="http://schemas.microsoft.com/office/drawing/2014/main" id="{67E65274-0C9B-478A-AE7D-45FC75B6B1DE}"/>
              </a:ext>
            </a:extLst>
          </p:cNvPr>
          <p:cNvSpPr>
            <a:spLocks xmlns:a="http://schemas.openxmlformats.org/drawingml/2006/main" noGrp="1"/>
          </p:cNvSpPr>
          <p:nvPr/>
        </p:nvSpPr>
        <p:spPr>
          <a:xfrm xmlns:a="http://schemas.openxmlformats.org/drawingml/2006/main">
            <a:off x="7905750" y="56578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B6875"/>
                </a:solidFill>
              </a:defRPr>
            </a:pPr>
            <a:r>
              <a:rPr sz="1275" b="0">
                <a:solidFill>
                  <a:srgbClr val="5B6875"/>
                </a:solidFill>
              </a:rPr>
              <a:t>Adverse secondary effects remain in the claim boundary.</a:t>
            </a:r>
          </a:p>
        </p:txBody>
      </p:sp>
      <p:sp>
        <p:nvSpPr>
          <p:cNvPr id="27" name="">
            <a:extLst xmlns:a="http://schemas.openxmlformats.org/drawingml/2006/main">
              <a:ext uri="{FF2B5EF4-FFF2-40B4-BE49-F238E27FC236}">
                <a16:creationId xmlns:a16="http://schemas.microsoft.com/office/drawing/2014/main" id="{6FCDEFDA-1D22-4796-9301-E7A67306E215}"/>
              </a:ext>
            </a:extLst>
          </p:cNvPr>
          <p:cNvSpPr>
            <a:spLocks xmlns:a="http://schemas.openxmlformats.org/drawingml/2006/main" noGrp="1"/>
          </p:cNvSpPr>
          <p:nvPr/>
        </p:nvSpPr>
        <p:spPr>
          <a:xfrm xmlns:a="http://schemas.openxmlformats.org/drawingml/2006/main">
            <a:off x="647700" y="6438900"/>
            <a:ext cx="10896600" cy="9525"/>
          </a:xfrm>
          <a:prstGeom xmlns:a="http://schemas.openxmlformats.org/drawingml/2006/main" prst="rect">
            <a:avLst/>
          </a:prstGeom>
          <a:solidFill xmlns:a="http://schemas.openxmlformats.org/drawingml/2006/main">
            <a:srgbClr val="D7DEE5"/>
          </a:solidFill>
          <a:ln xmlns:a="http://schemas.openxmlformats.org/drawingml/2006/main" w="0">
            <a:solidFill>
              <a:srgbClr val="D7DEE5"/>
            </a:solidFill>
            <a:prstDash val="solid"/>
          </a:ln>
        </p:spPr>
      </p:sp>
      <p:sp>
        <p:nvSpPr>
          <p:cNvPr id="28" name="">
            <a:extLst xmlns:a="http://schemas.openxmlformats.org/drawingml/2006/main">
              <a:ext uri="{FF2B5EF4-FFF2-40B4-BE49-F238E27FC236}">
                <a16:creationId xmlns:a16="http://schemas.microsoft.com/office/drawing/2014/main" id="{BAB2D8F6-8FF2-4586-804D-0720B6D47B48}"/>
              </a:ext>
            </a:extLst>
          </p:cNvPr>
          <p:cNvSpPr>
            <a:spLocks xmlns:a="http://schemas.openxmlformats.org/drawingml/2006/main" noGrp="1"/>
          </p:cNvSpPr>
          <p:nvPr/>
        </p:nvSpPr>
        <p:spPr>
          <a:xfrm xmlns:a="http://schemas.openxmlformats.org/drawingml/2006/main">
            <a:off x="647700" y="65151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B6875"/>
                </a:solidFill>
              </a:defRPr>
            </a:pPr>
            <a:r>
              <a:rPr sz="1050" b="0">
                <a:solidFill>
                  <a:srgbClr val="5B6875"/>
                </a:solidFill>
              </a:rPr>
              <a:t>Reliable + Controllable Digital Twin MVP</a:t>
            </a:r>
          </a:p>
        </p:txBody>
      </p:sp>
      <p:sp>
        <p:nvSpPr>
          <p:cNvPr id="29" name="">
            <a:extLst xmlns:a="http://schemas.openxmlformats.org/drawingml/2006/main">
              <a:ext uri="{FF2B5EF4-FFF2-40B4-BE49-F238E27FC236}">
                <a16:creationId xmlns:a16="http://schemas.microsoft.com/office/drawing/2014/main" id="{BB4C78BB-03C3-4909-9838-0CB008FA5987}"/>
              </a:ext>
            </a:extLst>
          </p:cNvPr>
          <p:cNvSpPr>
            <a:spLocks xmlns:a="http://schemas.openxmlformats.org/drawingml/2006/main" noGrp="1"/>
          </p:cNvSpPr>
          <p:nvPr/>
        </p:nvSpPr>
        <p:spPr>
          <a:xfrm xmlns:a="http://schemas.openxmlformats.org/drawingml/2006/main">
            <a:off x="11049000" y="65151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B6875"/>
                </a:solidFill>
              </a:defRPr>
            </a:pPr>
            <a:r>
              <a:rPr sz="1050" b="1">
                <a:solidFill>
                  <a:srgbClr val="5B6875"/>
                </a:solidFill>
              </a:rPr>
              <a:t>04</a:t>
            </a:r>
          </a:p>
        </p:txBody>
      </p:sp>
    </p:spTree>
    <p:extLst>
      <p:ext uri="{BB962C8B-B14F-4D97-AF65-F5344CB8AC3E}">
        <p14:creationId xmlns:p14="http://schemas.microsoft.com/office/powerpoint/2010/main" val="1372356442"/>
      </p:ext>
    </p:extLst>
  </p:cSld>
</p:sld>
</file>

<file path=ppt/slides/slide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21" name="section-label">
            <a:extLst xmlns:a="http://schemas.openxmlformats.org/drawingml/2006/main">
              <a:ext uri="{FF2B5EF4-FFF2-40B4-BE49-F238E27FC236}">
                <a16:creationId xmlns:a16="http://schemas.microsoft.com/office/drawing/2014/main" id="{CCE17701-398B-4951-8217-A556B31053E7}"/>
              </a:ext>
            </a:extLst>
          </p:cNvPr>
          <p:cNvSpPr>
            <a:spLocks xmlns:a="http://schemas.openxmlformats.org/drawingml/2006/main" noGrp="1"/>
          </p:cNvSpPr>
          <p:nvPr/>
        </p:nvSpPr>
        <p:spPr>
          <a:xfrm xmlns:a="http://schemas.openxmlformats.org/drawingml/2006/main">
            <a:off x="647700" y="3238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C56A09"/>
                </a:solidFill>
              </a:defRPr>
            </a:pPr>
            <a:r>
              <a:rPr sz="1200" b="1">
                <a:solidFill>
                  <a:srgbClr val="C56A09"/>
                </a:solidFill>
              </a:rPr>
              <a:t>C1 - PRIMARY EVIDENCE</a:t>
            </a:r>
          </a:p>
        </p:txBody>
      </p:sp>
      <p:sp>
        <p:nvSpPr>
          <p:cNvPr id="2" name="slide-title">
            <a:extLst xmlns:a="http://schemas.openxmlformats.org/drawingml/2006/main">
              <a:ext uri="{FF2B5EF4-FFF2-40B4-BE49-F238E27FC236}">
                <a16:creationId xmlns:a16="http://schemas.microsoft.com/office/drawing/2014/main" id="{CFAC075B-CA92-4F18-941E-C3FAEF8E53ED}"/>
              </a:ext>
            </a:extLst>
          </p:cNvPr>
          <p:cNvSpPr>
            <a:spLocks xmlns:a="http://schemas.openxmlformats.org/drawingml/2006/main" noGrp="1"/>
          </p:cNvSpPr>
          <p:nvPr/>
        </p:nvSpPr>
        <p:spPr>
          <a:xfrm xmlns:a="http://schemas.openxmlformats.org/drawingml/2006/main">
            <a:off x="647700" y="647700"/>
            <a:ext cx="10896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0B1F33"/>
                </a:solidFill>
              </a:defRPr>
            </a:pPr>
            <a:r>
              <a:rPr sz="3300" b="1">
                <a:solidFill>
                  <a:srgbClr val="0B1F33"/>
                </a:solidFill>
              </a:rPr>
              <a:t>Primary T2 response replicates across seeds and duration</a:t>
            </a:r>
          </a:p>
        </p:txBody>
      </p:sp>
      <p:sp>
        <p:nvSpPr>
          <p:cNvPr id="3" name="">
            <a:extLst xmlns:a="http://schemas.openxmlformats.org/drawingml/2006/main">
              <a:ext uri="{FF2B5EF4-FFF2-40B4-BE49-F238E27FC236}">
                <a16:creationId xmlns:a16="http://schemas.microsoft.com/office/drawing/2014/main" id="{CC0F7D3A-60CD-4418-B45B-B9F9813E3B36}"/>
              </a:ext>
            </a:extLst>
          </p:cNvPr>
          <p:cNvSpPr>
            <a:spLocks xmlns:a="http://schemas.openxmlformats.org/drawingml/2006/main" noGrp="1"/>
          </p:cNvSpPr>
          <p:nvPr/>
        </p:nvSpPr>
        <p:spPr>
          <a:xfrm xmlns:a="http://schemas.openxmlformats.org/drawingml/2006/main">
            <a:off x="647700" y="1304925"/>
            <a:ext cx="10896600" cy="19050"/>
          </a:xfrm>
          <a:prstGeom xmlns:a="http://schemas.openxmlformats.org/drawingml/2006/main" prst="rect">
            <a:avLst/>
          </a:prstGeom>
          <a:solidFill xmlns:a="http://schemas.openxmlformats.org/drawingml/2006/main">
            <a:srgbClr val="D7DEE5"/>
          </a:solidFill>
          <a:ln xmlns:a="http://schemas.openxmlformats.org/drawingml/2006/main" w="0">
            <a:solidFill>
              <a:srgbClr val="D7DEE5"/>
            </a:solidFill>
            <a:prstDash val="solid"/>
          </a:ln>
        </p:spPr>
      </p:sp>
      <p:sp>
        <p:nvSpPr>
          <p:cNvPr id="4" name="">
            <a:extLst xmlns:a="http://schemas.openxmlformats.org/drawingml/2006/main">
              <a:ext uri="{FF2B5EF4-FFF2-40B4-BE49-F238E27FC236}">
                <a16:creationId xmlns:a16="http://schemas.microsoft.com/office/drawing/2014/main" id="{BAAEBECF-E862-41F5-AC5E-C3324FFC5D05}"/>
              </a:ext>
            </a:extLst>
          </p:cNvPr>
          <p:cNvSpPr>
            <a:spLocks xmlns:a="http://schemas.openxmlformats.org/drawingml/2006/main" noGrp="1"/>
          </p:cNvSpPr>
          <p:nvPr/>
        </p:nvSpPr>
        <p:spPr>
          <a:xfrm xmlns:a="http://schemas.openxmlformats.org/drawingml/2006/main">
            <a:off x="609600" y="1562100"/>
            <a:ext cx="5676900" cy="4476750"/>
          </a:xfrm>
          <a:prstGeom xmlns:a="http://schemas.openxmlformats.org/drawingml/2006/main" prst="roundRect">
            <a:avLst>
              <a:gd name="adj" fmla="val 2553"/>
            </a:avLst>
          </a:prstGeom>
          <a:solidFill xmlns:a="http://schemas.openxmlformats.org/drawingml/2006/main">
            <a:srgbClr val="FFFFFF"/>
          </a:solidFill>
          <a:ln xmlns:a="http://schemas.openxmlformats.org/drawingml/2006/main" w="9525">
            <a:solidFill>
              <a:srgbClr val="D7DEE5"/>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1bfaef4c9d1436f"/>
          <a:stretch xmlns:a="http://schemas.openxmlformats.org/drawingml/2006/main"/>
        </p:blipFill>
        <p:spPr>
          <a:xfrm xmlns:a="http://schemas.openxmlformats.org/drawingml/2006/main">
            <a:off x="1436698" y="1657350"/>
            <a:ext cx="4022704" cy="40767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02E2CD9-A95B-4D15-A9F6-52E9EF0CB40F}"/>
              </a:ext>
            </a:extLst>
          </p:cNvPr>
          <p:cNvSpPr>
            <a:spLocks xmlns:a="http://schemas.openxmlformats.org/drawingml/2006/main" noGrp="1"/>
          </p:cNvSpPr>
          <p:nvPr/>
        </p:nvSpPr>
        <p:spPr>
          <a:xfrm xmlns:a="http://schemas.openxmlformats.org/drawingml/2006/main">
            <a:off x="781050" y="57721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B6875"/>
                </a:solidFill>
              </a:defRPr>
            </a:pPr>
            <a:r>
              <a:rPr sz="1050" b="0">
                <a:solidFill>
                  <a:srgbClr val="5B6875"/>
                </a:solidFill>
              </a:rPr>
              <a:t>Authoritative C1 quicklook crop - paired dT2 (%)</a:t>
            </a:r>
          </a:p>
        </p:txBody>
      </p:sp>
      <p:sp>
        <p:nvSpPr>
          <p:cNvPr id="7" name="">
            <a:extLst xmlns:a="http://schemas.openxmlformats.org/drawingml/2006/main">
              <a:ext uri="{FF2B5EF4-FFF2-40B4-BE49-F238E27FC236}">
                <a16:creationId xmlns:a16="http://schemas.microsoft.com/office/drawing/2014/main" id="{10FB018A-9820-47F6-8B86-E2CA0AB2CC3E}"/>
              </a:ext>
            </a:extLst>
          </p:cNvPr>
          <p:cNvSpPr>
            <a:spLocks xmlns:a="http://schemas.openxmlformats.org/drawingml/2006/main" noGrp="1"/>
          </p:cNvSpPr>
          <p:nvPr/>
        </p:nvSpPr>
        <p:spPr>
          <a:xfrm xmlns:a="http://schemas.openxmlformats.org/drawingml/2006/main">
            <a:off x="6953250" y="17145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5B6875"/>
                </a:solidFill>
              </a:defRPr>
            </a:pPr>
            <a:r>
              <a:rPr sz="1725" b="1">
                <a:solidFill>
                  <a:srgbClr val="5B6875"/>
                </a:solidFill>
              </a:rPr>
              <a:t>220 s</a:t>
            </a:r>
          </a:p>
        </p:txBody>
      </p:sp>
      <p:sp>
        <p:nvSpPr>
          <p:cNvPr id="8" name="">
            <a:extLst xmlns:a="http://schemas.openxmlformats.org/drawingml/2006/main">
              <a:ext uri="{FF2B5EF4-FFF2-40B4-BE49-F238E27FC236}">
                <a16:creationId xmlns:a16="http://schemas.microsoft.com/office/drawing/2014/main" id="{DF96CE73-6E2D-4D83-BA9D-EAED30709D68}"/>
              </a:ext>
            </a:extLst>
          </p:cNvPr>
          <p:cNvSpPr>
            <a:spLocks xmlns:a="http://schemas.openxmlformats.org/drawingml/2006/main" noGrp="1"/>
          </p:cNvSpPr>
          <p:nvPr/>
        </p:nvSpPr>
        <p:spPr>
          <a:xfrm xmlns:a="http://schemas.openxmlformats.org/drawingml/2006/main">
            <a:off x="6953250" y="2038350"/>
            <a:ext cx="3905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a:solidFill>
                  <a:srgbClr val="18794E"/>
                </a:solidFill>
              </a:defRPr>
            </a:pPr>
            <a:r>
              <a:rPr sz="3750" b="1">
                <a:solidFill>
                  <a:srgbClr val="18794E"/>
                </a:solidFill>
              </a:rPr>
              <a:t>+0.1913%</a:t>
            </a:r>
          </a:p>
        </p:txBody>
      </p:sp>
      <p:sp>
        <p:nvSpPr>
          <p:cNvPr id="9" name="">
            <a:extLst xmlns:a="http://schemas.openxmlformats.org/drawingml/2006/main">
              <a:ext uri="{FF2B5EF4-FFF2-40B4-BE49-F238E27FC236}">
                <a16:creationId xmlns:a16="http://schemas.microsoft.com/office/drawing/2014/main" id="{6B47EF5F-A076-428B-A7A0-B31E3220AE1A}"/>
              </a:ext>
            </a:extLst>
          </p:cNvPr>
          <p:cNvSpPr>
            <a:spLocks xmlns:a="http://schemas.openxmlformats.org/drawingml/2006/main" noGrp="1"/>
          </p:cNvSpPr>
          <p:nvPr/>
        </p:nvSpPr>
        <p:spPr>
          <a:xfrm xmlns:a="http://schemas.openxmlformats.org/drawingml/2006/main">
            <a:off x="6953250" y="26098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7212B"/>
                </a:solidFill>
              </a:defRPr>
            </a:pPr>
            <a:r>
              <a:rPr sz="1350" b="0">
                <a:solidFill>
                  <a:srgbClr val="17212B"/>
                </a:solidFill>
              </a:rPr>
              <a:t>median dT2</a:t>
            </a:r>
          </a:p>
        </p:txBody>
      </p:sp>
      <p:sp>
        <p:nvSpPr>
          <p:cNvPr id="10" name="">
            <a:extLst xmlns:a="http://schemas.openxmlformats.org/drawingml/2006/main">
              <a:ext uri="{FF2B5EF4-FFF2-40B4-BE49-F238E27FC236}">
                <a16:creationId xmlns:a16="http://schemas.microsoft.com/office/drawing/2014/main" id="{4AEE3C03-04E3-4AEA-AC83-0A7C7AC8FF0A}"/>
              </a:ext>
            </a:extLst>
          </p:cNvPr>
          <p:cNvSpPr>
            <a:spLocks xmlns:a="http://schemas.openxmlformats.org/drawingml/2006/main" noGrp="1"/>
          </p:cNvSpPr>
          <p:nvPr/>
        </p:nvSpPr>
        <p:spPr>
          <a:xfrm xmlns:a="http://schemas.openxmlformats.org/drawingml/2006/main">
            <a:off x="6953250" y="29718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B1F33"/>
                </a:solidFill>
              </a:defRPr>
            </a:pPr>
            <a:r>
              <a:rPr sz="1950" b="1">
                <a:solidFill>
                  <a:srgbClr val="0B1F33"/>
                </a:solidFill>
              </a:rPr>
              <a:t>3/3 positive</a:t>
            </a:r>
          </a:p>
        </p:txBody>
      </p:sp>
      <p:sp>
        <p:nvSpPr>
          <p:cNvPr id="11" name="">
            <a:extLst xmlns:a="http://schemas.openxmlformats.org/drawingml/2006/main">
              <a:ext uri="{FF2B5EF4-FFF2-40B4-BE49-F238E27FC236}">
                <a16:creationId xmlns:a16="http://schemas.microsoft.com/office/drawing/2014/main" id="{72A8B884-05D1-4FCB-8844-4E9C0E99A922}"/>
              </a:ext>
            </a:extLst>
          </p:cNvPr>
          <p:cNvSpPr>
            <a:spLocks xmlns:a="http://schemas.openxmlformats.org/drawingml/2006/main" noGrp="1"/>
          </p:cNvSpPr>
          <p:nvPr/>
        </p:nvSpPr>
        <p:spPr>
          <a:xfrm xmlns:a="http://schemas.openxmlformats.org/drawingml/2006/main">
            <a:off x="6953250" y="3543300"/>
            <a:ext cx="4210050" cy="19050"/>
          </a:xfrm>
          <a:prstGeom xmlns:a="http://schemas.openxmlformats.org/drawingml/2006/main" prst="rect">
            <a:avLst/>
          </a:prstGeom>
          <a:solidFill xmlns:a="http://schemas.openxmlformats.org/drawingml/2006/main">
            <a:srgbClr val="D7DEE5"/>
          </a:solidFill>
          <a:ln xmlns:a="http://schemas.openxmlformats.org/drawingml/2006/main" w="0">
            <a:solidFill>
              <a:srgbClr val="D7DEE5"/>
            </a:solidFill>
            <a:prstDash val="solid"/>
          </a:ln>
        </p:spPr>
      </p:sp>
      <p:sp>
        <p:nvSpPr>
          <p:cNvPr id="12" name="">
            <a:extLst xmlns:a="http://schemas.openxmlformats.org/drawingml/2006/main">
              <a:ext uri="{FF2B5EF4-FFF2-40B4-BE49-F238E27FC236}">
                <a16:creationId xmlns:a16="http://schemas.microsoft.com/office/drawing/2014/main" id="{D396FA54-1BE2-4024-A73A-3904CE775DAF}"/>
              </a:ext>
            </a:extLst>
          </p:cNvPr>
          <p:cNvSpPr>
            <a:spLocks xmlns:a="http://schemas.openxmlformats.org/drawingml/2006/main" noGrp="1"/>
          </p:cNvSpPr>
          <p:nvPr/>
        </p:nvSpPr>
        <p:spPr>
          <a:xfrm xmlns:a="http://schemas.openxmlformats.org/drawingml/2006/main">
            <a:off x="6953250" y="38290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5B6875"/>
                </a:solidFill>
              </a:defRPr>
            </a:pPr>
            <a:r>
              <a:rPr sz="1725" b="1">
                <a:solidFill>
                  <a:srgbClr val="5B6875"/>
                </a:solidFill>
              </a:rPr>
              <a:t>910 s</a:t>
            </a:r>
          </a:p>
        </p:txBody>
      </p:sp>
      <p:sp>
        <p:nvSpPr>
          <p:cNvPr id="13" name="">
            <a:extLst xmlns:a="http://schemas.openxmlformats.org/drawingml/2006/main">
              <a:ext uri="{FF2B5EF4-FFF2-40B4-BE49-F238E27FC236}">
                <a16:creationId xmlns:a16="http://schemas.microsoft.com/office/drawing/2014/main" id="{9325EEF7-D61C-478D-8E23-D0BE40D50D07}"/>
              </a:ext>
            </a:extLst>
          </p:cNvPr>
          <p:cNvSpPr>
            <a:spLocks xmlns:a="http://schemas.openxmlformats.org/drawingml/2006/main" noGrp="1"/>
          </p:cNvSpPr>
          <p:nvPr/>
        </p:nvSpPr>
        <p:spPr>
          <a:xfrm xmlns:a="http://schemas.openxmlformats.org/drawingml/2006/main">
            <a:off x="6953250" y="4152900"/>
            <a:ext cx="3905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a:solidFill>
                  <a:srgbClr val="18794E"/>
                </a:solidFill>
              </a:defRPr>
            </a:pPr>
            <a:r>
              <a:rPr sz="3750" b="1">
                <a:solidFill>
                  <a:srgbClr val="18794E"/>
                </a:solidFill>
              </a:rPr>
              <a:t>+0.1784%</a:t>
            </a:r>
          </a:p>
        </p:txBody>
      </p:sp>
      <p:sp>
        <p:nvSpPr>
          <p:cNvPr id="14" name="">
            <a:extLst xmlns:a="http://schemas.openxmlformats.org/drawingml/2006/main">
              <a:ext uri="{FF2B5EF4-FFF2-40B4-BE49-F238E27FC236}">
                <a16:creationId xmlns:a16="http://schemas.microsoft.com/office/drawing/2014/main" id="{5FAEE6B1-CC78-4A37-AD36-85CB62DC136A}"/>
              </a:ext>
            </a:extLst>
          </p:cNvPr>
          <p:cNvSpPr>
            <a:spLocks xmlns:a="http://schemas.openxmlformats.org/drawingml/2006/main" noGrp="1"/>
          </p:cNvSpPr>
          <p:nvPr/>
        </p:nvSpPr>
        <p:spPr>
          <a:xfrm xmlns:a="http://schemas.openxmlformats.org/drawingml/2006/main">
            <a:off x="6953250" y="47244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7212B"/>
                </a:solidFill>
              </a:defRPr>
            </a:pPr>
            <a:r>
              <a:rPr sz="1350" b="0">
                <a:solidFill>
                  <a:srgbClr val="17212B"/>
                </a:solidFill>
              </a:rPr>
              <a:t>median dT2</a:t>
            </a:r>
          </a:p>
        </p:txBody>
      </p:sp>
      <p:sp>
        <p:nvSpPr>
          <p:cNvPr id="15" name="">
            <a:extLst xmlns:a="http://schemas.openxmlformats.org/drawingml/2006/main">
              <a:ext uri="{FF2B5EF4-FFF2-40B4-BE49-F238E27FC236}">
                <a16:creationId xmlns:a16="http://schemas.microsoft.com/office/drawing/2014/main" id="{24D76D7C-2155-4A70-A10B-F28CCE4D63A6}"/>
              </a:ext>
            </a:extLst>
          </p:cNvPr>
          <p:cNvSpPr>
            <a:spLocks xmlns:a="http://schemas.openxmlformats.org/drawingml/2006/main" noGrp="1"/>
          </p:cNvSpPr>
          <p:nvPr/>
        </p:nvSpPr>
        <p:spPr>
          <a:xfrm xmlns:a="http://schemas.openxmlformats.org/drawingml/2006/main">
            <a:off x="6953250" y="5086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B1F33"/>
                </a:solidFill>
              </a:defRPr>
            </a:pPr>
            <a:r>
              <a:rPr sz="1950" b="1">
                <a:solidFill>
                  <a:srgbClr val="0B1F33"/>
                </a:solidFill>
              </a:rPr>
              <a:t>3/3 positive</a:t>
            </a:r>
          </a:p>
        </p:txBody>
      </p:sp>
      <p:sp>
        <p:nvSpPr>
          <p:cNvPr id="16" name="">
            <a:extLst xmlns:a="http://schemas.openxmlformats.org/drawingml/2006/main">
              <a:ext uri="{FF2B5EF4-FFF2-40B4-BE49-F238E27FC236}">
                <a16:creationId xmlns:a16="http://schemas.microsoft.com/office/drawing/2014/main" id="{FA042D84-AAFC-4707-A923-DCE3318DEE9B}"/>
              </a:ext>
            </a:extLst>
          </p:cNvPr>
          <p:cNvSpPr>
            <a:spLocks xmlns:a="http://schemas.openxmlformats.org/drawingml/2006/main" noGrp="1"/>
          </p:cNvSpPr>
          <p:nvPr/>
        </p:nvSpPr>
        <p:spPr>
          <a:xfrm xmlns:a="http://schemas.openxmlformats.org/drawingml/2006/main">
            <a:off x="6838950" y="5600700"/>
            <a:ext cx="4457700" cy="438150"/>
          </a:xfrm>
          <a:prstGeom xmlns:a="http://schemas.openxmlformats.org/drawingml/2006/main" prst="roundRect">
            <a:avLst>
              <a:gd name="adj" fmla="val 26087"/>
            </a:avLst>
          </a:prstGeom>
          <a:solidFill xmlns:a="http://schemas.openxmlformats.org/drawingml/2006/main">
            <a:srgbClr val="E2F3EA"/>
          </a:solidFill>
          <a:ln xmlns:a="http://schemas.openxmlformats.org/drawingml/2006/main" w="9525">
            <a:solidFill>
              <a:srgbClr val="18794E"/>
            </a:solidFill>
            <a:prstDash val="solid"/>
          </a:ln>
        </p:spPr>
      </p:sp>
      <p:sp>
        <p:nvSpPr>
          <p:cNvPr id="17" name="">
            <a:extLst xmlns:a="http://schemas.openxmlformats.org/drawingml/2006/main">
              <a:ext uri="{FF2B5EF4-FFF2-40B4-BE49-F238E27FC236}">
                <a16:creationId xmlns:a16="http://schemas.microsoft.com/office/drawing/2014/main" id="{5ECC5AA9-1DA2-4FA0-857A-068DB6108DD6}"/>
              </a:ext>
            </a:extLst>
          </p:cNvPr>
          <p:cNvSpPr>
            <a:spLocks xmlns:a="http://schemas.openxmlformats.org/drawingml/2006/main" noGrp="1"/>
          </p:cNvSpPr>
          <p:nvPr/>
        </p:nvSpPr>
        <p:spPr>
          <a:xfrm xmlns:a="http://schemas.openxmlformats.org/drawingml/2006/main">
            <a:off x="6953250" y="5695950"/>
            <a:ext cx="421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8794E"/>
                </a:solidFill>
              </a:defRPr>
            </a:pPr>
            <a:r>
              <a:rPr sz="1575" b="1">
                <a:solidFill>
                  <a:srgbClr val="18794E"/>
                </a:solidFill>
              </a:rPr>
              <a:t>Integrity PASS 6/6</a:t>
            </a:r>
          </a:p>
        </p:txBody>
      </p:sp>
      <p:sp>
        <p:nvSpPr>
          <p:cNvPr id="18" name="">
            <a:extLst xmlns:a="http://schemas.openxmlformats.org/drawingml/2006/main">
              <a:ext uri="{FF2B5EF4-FFF2-40B4-BE49-F238E27FC236}">
                <a16:creationId xmlns:a16="http://schemas.microsoft.com/office/drawing/2014/main" id="{9E8FD6A3-0DA4-418D-8DCE-F61FD7D2F811}"/>
              </a:ext>
            </a:extLst>
          </p:cNvPr>
          <p:cNvSpPr>
            <a:spLocks xmlns:a="http://schemas.openxmlformats.org/drawingml/2006/main" noGrp="1"/>
          </p:cNvSpPr>
          <p:nvPr/>
        </p:nvSpPr>
        <p:spPr>
          <a:xfrm xmlns:a="http://schemas.openxmlformats.org/drawingml/2006/main">
            <a:off x="647700" y="6438900"/>
            <a:ext cx="10896600" cy="9525"/>
          </a:xfrm>
          <a:prstGeom xmlns:a="http://schemas.openxmlformats.org/drawingml/2006/main" prst="rect">
            <a:avLst/>
          </a:prstGeom>
          <a:solidFill xmlns:a="http://schemas.openxmlformats.org/drawingml/2006/main">
            <a:srgbClr val="D7DEE5"/>
          </a:solidFill>
          <a:ln xmlns:a="http://schemas.openxmlformats.org/drawingml/2006/main" w="0">
            <a:solidFill>
              <a:srgbClr val="D7DEE5"/>
            </a:solidFill>
            <a:prstDash val="solid"/>
          </a:ln>
        </p:spPr>
      </p:sp>
      <p:sp>
        <p:nvSpPr>
          <p:cNvPr id="19" name="">
            <a:extLst xmlns:a="http://schemas.openxmlformats.org/drawingml/2006/main">
              <a:ext uri="{FF2B5EF4-FFF2-40B4-BE49-F238E27FC236}">
                <a16:creationId xmlns:a16="http://schemas.microsoft.com/office/drawing/2014/main" id="{37EAC65E-D8AB-4F8A-BD82-FD8647E19383}"/>
              </a:ext>
            </a:extLst>
          </p:cNvPr>
          <p:cNvSpPr>
            <a:spLocks xmlns:a="http://schemas.openxmlformats.org/drawingml/2006/main" noGrp="1"/>
          </p:cNvSpPr>
          <p:nvPr/>
        </p:nvSpPr>
        <p:spPr>
          <a:xfrm xmlns:a="http://schemas.openxmlformats.org/drawingml/2006/main">
            <a:off x="647700" y="65151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B6875"/>
                </a:solidFill>
              </a:defRPr>
            </a:pPr>
            <a:r>
              <a:rPr sz="1050" b="0">
                <a:solidFill>
                  <a:srgbClr val="5B6875"/>
                </a:solidFill>
              </a:rPr>
              <a:t>Reliable + Controllable Digital Twin MVP</a:t>
            </a:r>
          </a:p>
        </p:txBody>
      </p:sp>
      <p:sp>
        <p:nvSpPr>
          <p:cNvPr id="20" name="">
            <a:extLst xmlns:a="http://schemas.openxmlformats.org/drawingml/2006/main">
              <a:ext uri="{FF2B5EF4-FFF2-40B4-BE49-F238E27FC236}">
                <a16:creationId xmlns:a16="http://schemas.microsoft.com/office/drawing/2014/main" id="{FE024417-4AF9-4F27-85F9-199074EFA982}"/>
              </a:ext>
            </a:extLst>
          </p:cNvPr>
          <p:cNvSpPr>
            <a:spLocks xmlns:a="http://schemas.openxmlformats.org/drawingml/2006/main" noGrp="1"/>
          </p:cNvSpPr>
          <p:nvPr/>
        </p:nvSpPr>
        <p:spPr>
          <a:xfrm xmlns:a="http://schemas.openxmlformats.org/drawingml/2006/main">
            <a:off x="11049000" y="65151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B6875"/>
                </a:solidFill>
              </a:defRPr>
            </a:pPr>
            <a:r>
              <a:rPr sz="1050" b="1">
                <a:solidFill>
                  <a:srgbClr val="5B6875"/>
                </a:solidFill>
              </a:rPr>
              <a:t>05</a:t>
            </a:r>
          </a:p>
        </p:txBody>
      </p:sp>
    </p:spTree>
    <p:extLst>
      <p:ext uri="{BB962C8B-B14F-4D97-AF65-F5344CB8AC3E}">
        <p14:creationId xmlns:p14="http://schemas.microsoft.com/office/powerpoint/2010/main" val="209141866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ection-label">
            <a:extLst xmlns:a="http://schemas.openxmlformats.org/drawingml/2006/main">
              <a:ext uri="{FF2B5EF4-FFF2-40B4-BE49-F238E27FC236}">
                <a16:creationId xmlns:a16="http://schemas.microsoft.com/office/drawing/2014/main" id="{545FF2DA-8214-4035-8C81-FE60989B40D8}"/>
              </a:ext>
            </a:extLst>
          </p:cNvPr>
          <p:cNvSpPr>
            <a:spLocks xmlns:a="http://schemas.openxmlformats.org/drawingml/2006/main" noGrp="1"/>
          </p:cNvSpPr>
          <p:nvPr/>
        </p:nvSpPr>
        <p:spPr>
          <a:xfrm xmlns:a="http://schemas.openxmlformats.org/drawingml/2006/main">
            <a:off x="647700" y="3238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C56A09"/>
                </a:solidFill>
              </a:defRPr>
            </a:pPr>
            <a:r>
              <a:rPr sz="1200" b="1">
                <a:solidFill>
                  <a:srgbClr val="C56A09"/>
                </a:solidFill>
              </a:rPr>
              <a:t>C1 - TRADE-OFFS</a:t>
            </a:r>
          </a:p>
        </p:txBody>
      </p:sp>
      <p:sp>
        <p:nvSpPr>
          <p:cNvPr id="2" name="slide-title">
            <a:extLst xmlns:a="http://schemas.openxmlformats.org/drawingml/2006/main">
              <a:ext uri="{FF2B5EF4-FFF2-40B4-BE49-F238E27FC236}">
                <a16:creationId xmlns:a16="http://schemas.microsoft.com/office/drawing/2014/main" id="{D2FC03AC-70AE-4575-A652-5F24B1DEB818}"/>
              </a:ext>
            </a:extLst>
          </p:cNvPr>
          <p:cNvSpPr>
            <a:spLocks xmlns:a="http://schemas.openxmlformats.org/drawingml/2006/main" noGrp="1"/>
          </p:cNvSpPr>
          <p:nvPr/>
        </p:nvSpPr>
        <p:spPr>
          <a:xfrm xmlns:a="http://schemas.openxmlformats.org/drawingml/2006/main">
            <a:off x="647700" y="647700"/>
            <a:ext cx="10896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0B1F33"/>
                </a:solidFill>
              </a:defRPr>
            </a:pPr>
            <a:r>
              <a:rPr sz="3300" b="1">
                <a:solidFill>
                  <a:srgbClr val="0B1F33"/>
                </a:solidFill>
              </a:rPr>
              <a:t>I_SO corroborates T2; secondary trade-offs remain</a:t>
            </a:r>
          </a:p>
        </p:txBody>
      </p:sp>
      <p:sp>
        <p:nvSpPr>
          <p:cNvPr id="3" name="">
            <a:extLst xmlns:a="http://schemas.openxmlformats.org/drawingml/2006/main">
              <a:ext uri="{FF2B5EF4-FFF2-40B4-BE49-F238E27FC236}">
                <a16:creationId xmlns:a16="http://schemas.microsoft.com/office/drawing/2014/main" id="{4A619724-B0AF-4FE1-B41F-0E2F1C7EBB40}"/>
              </a:ext>
            </a:extLst>
          </p:cNvPr>
          <p:cNvSpPr>
            <a:spLocks xmlns:a="http://schemas.openxmlformats.org/drawingml/2006/main" noGrp="1"/>
          </p:cNvSpPr>
          <p:nvPr/>
        </p:nvSpPr>
        <p:spPr>
          <a:xfrm xmlns:a="http://schemas.openxmlformats.org/drawingml/2006/main">
            <a:off x="647700" y="1304925"/>
            <a:ext cx="10896600" cy="19050"/>
          </a:xfrm>
          <a:prstGeom xmlns:a="http://schemas.openxmlformats.org/drawingml/2006/main" prst="rect">
            <a:avLst/>
          </a:prstGeom>
          <a:solidFill xmlns:a="http://schemas.openxmlformats.org/drawingml/2006/main">
            <a:srgbClr val="D7DEE5"/>
          </a:solidFill>
          <a:ln xmlns:a="http://schemas.openxmlformats.org/drawingml/2006/main" w="0">
            <a:solidFill>
              <a:srgbClr val="D7DEE5"/>
            </a:solidFill>
            <a:prstDash val="solid"/>
          </a:ln>
        </p:spPr>
      </p:sp>
      <p:sp>
        <p:nvSpPr>
          <p:cNvPr id="4" name="">
            <a:extLst xmlns:a="http://schemas.openxmlformats.org/drawingml/2006/main">
              <a:ext uri="{FF2B5EF4-FFF2-40B4-BE49-F238E27FC236}">
                <a16:creationId xmlns:a16="http://schemas.microsoft.com/office/drawing/2014/main" id="{D4581EEA-CBA5-4FD7-89E7-6BDA637B5C98}"/>
              </a:ext>
            </a:extLst>
          </p:cNvPr>
          <p:cNvSpPr>
            <a:spLocks xmlns:a="http://schemas.openxmlformats.org/drawingml/2006/main" noGrp="1"/>
          </p:cNvSpPr>
          <p:nvPr/>
        </p:nvSpPr>
        <p:spPr>
          <a:xfrm xmlns:a="http://schemas.openxmlformats.org/drawingml/2006/main">
            <a:off x="628650" y="1581150"/>
            <a:ext cx="10915650" cy="3600450"/>
          </a:xfrm>
          <a:prstGeom xmlns:a="http://schemas.openxmlformats.org/drawingml/2006/main" prst="roundRect">
            <a:avLst>
              <a:gd name="adj" fmla="val 3175"/>
            </a:avLst>
          </a:prstGeom>
          <a:solidFill xmlns:a="http://schemas.openxmlformats.org/drawingml/2006/main">
            <a:srgbClr val="F6F8FA"/>
          </a:solidFill>
          <a:ln xmlns:a="http://schemas.openxmlformats.org/drawingml/2006/main" w="9525">
            <a:solidFill>
              <a:srgbClr val="D7DEE5"/>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4275c77f9b0749ce"/>
          <a:stretch xmlns:a="http://schemas.openxmlformats.org/drawingml/2006/main"/>
        </p:blipFill>
        <p:spPr>
          <a:xfrm xmlns:a="http://schemas.openxmlformats.org/drawingml/2006/main">
            <a:off x="742950" y="1732813"/>
            <a:ext cx="10687050" cy="320187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DFC4CF3-00A3-4A0E-84FB-E2835919807F}"/>
              </a:ext>
            </a:extLst>
          </p:cNvPr>
          <p:cNvSpPr>
            <a:spLocks xmlns:a="http://schemas.openxmlformats.org/drawingml/2006/main" noGrp="1"/>
          </p:cNvSpPr>
          <p:nvPr/>
        </p:nvSpPr>
        <p:spPr>
          <a:xfrm xmlns:a="http://schemas.openxmlformats.org/drawingml/2006/main">
            <a:off x="742950" y="495300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B6875"/>
                </a:solidFill>
              </a:defRPr>
            </a:pPr>
            <a:r>
              <a:rPr sz="1050" b="0">
                <a:solidFill>
                  <a:srgbClr val="5B6875"/>
                </a:solidFill>
              </a:rPr>
              <a:t>Authoritative C1 quicklook - supporting and secondary panels</a:t>
            </a:r>
          </a:p>
        </p:txBody>
      </p:sp>
      <p:sp>
        <p:nvSpPr>
          <p:cNvPr id="7" name="">
            <a:extLst xmlns:a="http://schemas.openxmlformats.org/drawingml/2006/main">
              <a:ext uri="{FF2B5EF4-FFF2-40B4-BE49-F238E27FC236}">
                <a16:creationId xmlns:a16="http://schemas.microsoft.com/office/drawing/2014/main" id="{13F5BE5B-8299-417D-BAFE-770C76DE782C}"/>
              </a:ext>
            </a:extLst>
          </p:cNvPr>
          <p:cNvSpPr>
            <a:spLocks xmlns:a="http://schemas.openxmlformats.org/drawingml/2006/main" noGrp="1"/>
          </p:cNvSpPr>
          <p:nvPr/>
        </p:nvSpPr>
        <p:spPr>
          <a:xfrm xmlns:a="http://schemas.openxmlformats.org/drawingml/2006/main">
            <a:off x="647700" y="5429250"/>
            <a:ext cx="3352800" cy="666750"/>
          </a:xfrm>
          <a:prstGeom xmlns:a="http://schemas.openxmlformats.org/drawingml/2006/main" prst="roundRect">
            <a:avLst>
              <a:gd name="adj" fmla="val 17143"/>
            </a:avLst>
          </a:prstGeom>
          <a:solidFill xmlns:a="http://schemas.openxmlformats.org/drawingml/2006/main">
            <a:srgbClr val="E2F3EA"/>
          </a:solidFill>
          <a:ln xmlns:a="http://schemas.openxmlformats.org/drawingml/2006/main" w="9525">
            <a:solidFill>
              <a:srgbClr val="18794E"/>
            </a:solidFill>
            <a:prstDash val="solid"/>
          </a:ln>
        </p:spPr>
      </p:sp>
      <p:sp>
        <p:nvSpPr>
          <p:cNvPr id="8" name="">
            <a:extLst xmlns:a="http://schemas.openxmlformats.org/drawingml/2006/main">
              <a:ext uri="{FF2B5EF4-FFF2-40B4-BE49-F238E27FC236}">
                <a16:creationId xmlns:a16="http://schemas.microsoft.com/office/drawing/2014/main" id="{3F694931-D707-4D3B-98BB-8E5DF36A8DBA}"/>
              </a:ext>
            </a:extLst>
          </p:cNvPr>
          <p:cNvSpPr>
            <a:spLocks xmlns:a="http://schemas.openxmlformats.org/drawingml/2006/main" noGrp="1"/>
          </p:cNvSpPr>
          <p:nvPr/>
        </p:nvSpPr>
        <p:spPr>
          <a:xfrm xmlns:a="http://schemas.openxmlformats.org/drawingml/2006/main">
            <a:off x="838200" y="5562600"/>
            <a:ext cx="89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8794E"/>
                </a:solidFill>
              </a:defRPr>
            </a:pPr>
            <a:r>
              <a:rPr sz="1800" b="1">
                <a:solidFill>
                  <a:srgbClr val="18794E"/>
                </a:solidFill>
              </a:rPr>
              <a:t>I_SO</a:t>
            </a:r>
          </a:p>
        </p:txBody>
      </p:sp>
      <p:sp>
        <p:nvSpPr>
          <p:cNvPr id="9" name="">
            <a:extLst xmlns:a="http://schemas.openxmlformats.org/drawingml/2006/main">
              <a:ext uri="{FF2B5EF4-FFF2-40B4-BE49-F238E27FC236}">
                <a16:creationId xmlns:a16="http://schemas.microsoft.com/office/drawing/2014/main" id="{83797C34-0BBB-4EEA-B3D9-12BC4170465F}"/>
              </a:ext>
            </a:extLst>
          </p:cNvPr>
          <p:cNvSpPr>
            <a:spLocks xmlns:a="http://schemas.openxmlformats.org/drawingml/2006/main" noGrp="1"/>
          </p:cNvSpPr>
          <p:nvPr/>
        </p:nvSpPr>
        <p:spPr>
          <a:xfrm xmlns:a="http://schemas.openxmlformats.org/drawingml/2006/main">
            <a:off x="1695450" y="5562600"/>
            <a:ext cx="2133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7212B"/>
                </a:solidFill>
              </a:defRPr>
            </a:pPr>
            <a:r>
              <a:rPr sz="1350" b="1">
                <a:solidFill>
                  <a:srgbClr val="17212B"/>
                </a:solidFill>
              </a:rPr>
              <a:t>supportive 3/3 at both durations</a:t>
            </a:r>
          </a:p>
        </p:txBody>
      </p:sp>
      <p:sp>
        <p:nvSpPr>
          <p:cNvPr id="10" name="">
            <a:extLst xmlns:a="http://schemas.openxmlformats.org/drawingml/2006/main">
              <a:ext uri="{FF2B5EF4-FFF2-40B4-BE49-F238E27FC236}">
                <a16:creationId xmlns:a16="http://schemas.microsoft.com/office/drawing/2014/main" id="{63957F83-F1F4-4330-8CF7-40AD01F7B6EA}"/>
              </a:ext>
            </a:extLst>
          </p:cNvPr>
          <p:cNvSpPr>
            <a:spLocks xmlns:a="http://schemas.openxmlformats.org/drawingml/2006/main" noGrp="1"/>
          </p:cNvSpPr>
          <p:nvPr/>
        </p:nvSpPr>
        <p:spPr>
          <a:xfrm xmlns:a="http://schemas.openxmlformats.org/drawingml/2006/main">
            <a:off x="4400550" y="5429250"/>
            <a:ext cx="3009900" cy="666750"/>
          </a:xfrm>
          <a:prstGeom xmlns:a="http://schemas.openxmlformats.org/drawingml/2006/main" prst="roundRect">
            <a:avLst>
              <a:gd name="adj" fmla="val 17143"/>
            </a:avLst>
          </a:prstGeom>
          <a:solidFill xmlns:a="http://schemas.openxmlformats.org/drawingml/2006/main">
            <a:srgbClr val="FCE8E6"/>
          </a:solidFill>
          <a:ln xmlns:a="http://schemas.openxmlformats.org/drawingml/2006/main" w="9525">
            <a:solidFill>
              <a:srgbClr val="B42318"/>
            </a:solidFill>
            <a:prstDash val="solid"/>
          </a:ln>
        </p:spPr>
      </p:sp>
      <p:sp>
        <p:nvSpPr>
          <p:cNvPr id="11" name="">
            <a:extLst xmlns:a="http://schemas.openxmlformats.org/drawingml/2006/main">
              <a:ext uri="{FF2B5EF4-FFF2-40B4-BE49-F238E27FC236}">
                <a16:creationId xmlns:a16="http://schemas.microsoft.com/office/drawing/2014/main" id="{2DB93112-6A32-4189-8D49-0493FF460168}"/>
              </a:ext>
            </a:extLst>
          </p:cNvPr>
          <p:cNvSpPr>
            <a:spLocks xmlns:a="http://schemas.openxmlformats.org/drawingml/2006/main" noGrp="1"/>
          </p:cNvSpPr>
          <p:nvPr/>
        </p:nvSpPr>
        <p:spPr>
          <a:xfrm xmlns:a="http://schemas.openxmlformats.org/drawingml/2006/main">
            <a:off x="4591050" y="5562600"/>
            <a:ext cx="838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B42318"/>
                </a:solidFill>
              </a:defRPr>
            </a:pPr>
            <a:r>
              <a:rPr sz="1800" b="1">
                <a:solidFill>
                  <a:srgbClr val="B42318"/>
                </a:solidFill>
              </a:rPr>
              <a:t>I_SP</a:t>
            </a:r>
          </a:p>
        </p:txBody>
      </p:sp>
      <p:sp>
        <p:nvSpPr>
          <p:cNvPr id="12" name="">
            <a:extLst xmlns:a="http://schemas.openxmlformats.org/drawingml/2006/main">
              <a:ext uri="{FF2B5EF4-FFF2-40B4-BE49-F238E27FC236}">
                <a16:creationId xmlns:a16="http://schemas.microsoft.com/office/drawing/2014/main" id="{3BD2F647-E68A-4950-BC55-72ACD24FDC49}"/>
              </a:ext>
            </a:extLst>
          </p:cNvPr>
          <p:cNvSpPr>
            <a:spLocks xmlns:a="http://schemas.openxmlformats.org/drawingml/2006/main" noGrp="1"/>
          </p:cNvSpPr>
          <p:nvPr/>
        </p:nvSpPr>
        <p:spPr>
          <a:xfrm xmlns:a="http://schemas.openxmlformats.org/drawingml/2006/main">
            <a:off x="5372100" y="5562600"/>
            <a:ext cx="1866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7212B"/>
                </a:solidFill>
              </a:defRPr>
            </a:pPr>
            <a:r>
              <a:rPr sz="1350" b="1">
                <a:solidFill>
                  <a:srgbClr val="17212B"/>
                </a:solidFill>
              </a:rPr>
              <a:t>adverse 3/3 at both durations</a:t>
            </a:r>
          </a:p>
        </p:txBody>
      </p:sp>
      <p:sp>
        <p:nvSpPr>
          <p:cNvPr id="13" name="">
            <a:extLst xmlns:a="http://schemas.openxmlformats.org/drawingml/2006/main">
              <a:ext uri="{FF2B5EF4-FFF2-40B4-BE49-F238E27FC236}">
                <a16:creationId xmlns:a16="http://schemas.microsoft.com/office/drawing/2014/main" id="{6F39707E-F3C1-4DE8-9B73-4453267B12D3}"/>
              </a:ext>
            </a:extLst>
          </p:cNvPr>
          <p:cNvSpPr>
            <a:spLocks xmlns:a="http://schemas.openxmlformats.org/drawingml/2006/main" noGrp="1"/>
          </p:cNvSpPr>
          <p:nvPr/>
        </p:nvSpPr>
        <p:spPr>
          <a:xfrm xmlns:a="http://schemas.openxmlformats.org/drawingml/2006/main">
            <a:off x="7810500" y="5429250"/>
            <a:ext cx="3733800" cy="666750"/>
          </a:xfrm>
          <a:prstGeom xmlns:a="http://schemas.openxmlformats.org/drawingml/2006/main" prst="roundRect">
            <a:avLst>
              <a:gd name="adj" fmla="val 17143"/>
            </a:avLst>
          </a:prstGeom>
          <a:solidFill xmlns:a="http://schemas.openxmlformats.org/drawingml/2006/main">
            <a:srgbClr val="FFF0D6"/>
          </a:solidFill>
          <a:ln xmlns:a="http://schemas.openxmlformats.org/drawingml/2006/main" w="9525">
            <a:solidFill>
              <a:srgbClr val="C56A09"/>
            </a:solidFill>
            <a:prstDash val="solid"/>
          </a:ln>
        </p:spPr>
      </p:sp>
      <p:sp>
        <p:nvSpPr>
          <p:cNvPr id="14" name="">
            <a:extLst xmlns:a="http://schemas.openxmlformats.org/drawingml/2006/main">
              <a:ext uri="{FF2B5EF4-FFF2-40B4-BE49-F238E27FC236}">
                <a16:creationId xmlns:a16="http://schemas.microsoft.com/office/drawing/2014/main" id="{AE11D990-7D81-49B1-AD2B-B7D7052881FF}"/>
              </a:ext>
            </a:extLst>
          </p:cNvPr>
          <p:cNvSpPr>
            <a:spLocks xmlns:a="http://schemas.openxmlformats.org/drawingml/2006/main" noGrp="1"/>
          </p:cNvSpPr>
          <p:nvPr/>
        </p:nvSpPr>
        <p:spPr>
          <a:xfrm xmlns:a="http://schemas.openxmlformats.org/drawingml/2006/main">
            <a:off x="8001000" y="55626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C56A09"/>
                </a:solidFill>
              </a:defRPr>
            </a:pPr>
            <a:r>
              <a:rPr sz="1800" b="1">
                <a:solidFill>
                  <a:srgbClr val="C56A09"/>
                </a:solidFill>
              </a:rPr>
              <a:t>T6</a:t>
            </a:r>
          </a:p>
        </p:txBody>
      </p:sp>
      <p:sp>
        <p:nvSpPr>
          <p:cNvPr id="15" name="">
            <a:extLst xmlns:a="http://schemas.openxmlformats.org/drawingml/2006/main">
              <a:ext uri="{FF2B5EF4-FFF2-40B4-BE49-F238E27FC236}">
                <a16:creationId xmlns:a16="http://schemas.microsoft.com/office/drawing/2014/main" id="{EB2B50C4-7FAF-4F0B-A60A-0B4C7FB68CC6}"/>
              </a:ext>
            </a:extLst>
          </p:cNvPr>
          <p:cNvSpPr>
            <a:spLocks xmlns:a="http://schemas.openxmlformats.org/drawingml/2006/main" noGrp="1"/>
          </p:cNvSpPr>
          <p:nvPr/>
        </p:nvSpPr>
        <p:spPr>
          <a:xfrm xmlns:a="http://schemas.openxmlformats.org/drawingml/2006/main">
            <a:off x="8648700" y="5562600"/>
            <a:ext cx="2686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7212B"/>
                </a:solidFill>
              </a:defRPr>
            </a:pPr>
            <a:r>
              <a:rPr sz="1350" b="1">
                <a:solidFill>
                  <a:srgbClr val="17212B"/>
                </a:solidFill>
              </a:rPr>
              <a:t>mixed; slightly negative medians</a:t>
            </a:r>
          </a:p>
        </p:txBody>
      </p:sp>
      <p:sp>
        <p:nvSpPr>
          <p:cNvPr id="16" name="">
            <a:extLst xmlns:a="http://schemas.openxmlformats.org/drawingml/2006/main">
              <a:ext uri="{FF2B5EF4-FFF2-40B4-BE49-F238E27FC236}">
                <a16:creationId xmlns:a16="http://schemas.microsoft.com/office/drawing/2014/main" id="{9B74EAD1-CFC6-42B8-B83A-19CE7A8D6C43}"/>
              </a:ext>
            </a:extLst>
          </p:cNvPr>
          <p:cNvSpPr>
            <a:spLocks xmlns:a="http://schemas.openxmlformats.org/drawingml/2006/main" noGrp="1"/>
          </p:cNvSpPr>
          <p:nvPr/>
        </p:nvSpPr>
        <p:spPr>
          <a:xfrm xmlns:a="http://schemas.openxmlformats.org/drawingml/2006/main">
            <a:off x="647700" y="6153150"/>
            <a:ext cx="10896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0B1F33"/>
                </a:solidFill>
              </a:defRPr>
            </a:pPr>
            <a:r>
              <a:rPr sz="1725" b="1">
                <a:solidFill>
                  <a:srgbClr val="0B1F33"/>
                </a:solidFill>
              </a:rPr>
              <a:t>Primary controllability is established; controller-quality trade-offs remain.</a:t>
            </a:r>
          </a:p>
        </p:txBody>
      </p:sp>
      <p:sp>
        <p:nvSpPr>
          <p:cNvPr id="17" name="">
            <a:extLst xmlns:a="http://schemas.openxmlformats.org/drawingml/2006/main">
              <a:ext uri="{FF2B5EF4-FFF2-40B4-BE49-F238E27FC236}">
                <a16:creationId xmlns:a16="http://schemas.microsoft.com/office/drawing/2014/main" id="{2F66FDA1-59FE-476A-9A07-080EE1BDA7DB}"/>
              </a:ext>
            </a:extLst>
          </p:cNvPr>
          <p:cNvSpPr>
            <a:spLocks xmlns:a="http://schemas.openxmlformats.org/drawingml/2006/main" noGrp="1"/>
          </p:cNvSpPr>
          <p:nvPr/>
        </p:nvSpPr>
        <p:spPr>
          <a:xfrm xmlns:a="http://schemas.openxmlformats.org/drawingml/2006/main">
            <a:off x="647700" y="6438900"/>
            <a:ext cx="10896600" cy="9525"/>
          </a:xfrm>
          <a:prstGeom xmlns:a="http://schemas.openxmlformats.org/drawingml/2006/main" prst="rect">
            <a:avLst/>
          </a:prstGeom>
          <a:solidFill xmlns:a="http://schemas.openxmlformats.org/drawingml/2006/main">
            <a:srgbClr val="D7DEE5"/>
          </a:solidFill>
          <a:ln xmlns:a="http://schemas.openxmlformats.org/drawingml/2006/main" w="0">
            <a:solidFill>
              <a:srgbClr val="D7DEE5"/>
            </a:solidFill>
            <a:prstDash val="solid"/>
          </a:ln>
        </p:spPr>
      </p:sp>
      <p:sp>
        <p:nvSpPr>
          <p:cNvPr id="18" name="">
            <a:extLst xmlns:a="http://schemas.openxmlformats.org/drawingml/2006/main">
              <a:ext uri="{FF2B5EF4-FFF2-40B4-BE49-F238E27FC236}">
                <a16:creationId xmlns:a16="http://schemas.microsoft.com/office/drawing/2014/main" id="{8CC6053E-0EB6-4E4B-9373-B76E65F030B3}"/>
              </a:ext>
            </a:extLst>
          </p:cNvPr>
          <p:cNvSpPr>
            <a:spLocks xmlns:a="http://schemas.openxmlformats.org/drawingml/2006/main" noGrp="1"/>
          </p:cNvSpPr>
          <p:nvPr/>
        </p:nvSpPr>
        <p:spPr>
          <a:xfrm xmlns:a="http://schemas.openxmlformats.org/drawingml/2006/main">
            <a:off x="647700" y="65151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B6875"/>
                </a:solidFill>
              </a:defRPr>
            </a:pPr>
            <a:r>
              <a:rPr sz="1050" b="0">
                <a:solidFill>
                  <a:srgbClr val="5B6875"/>
                </a:solidFill>
              </a:rPr>
              <a:t>Reliable + Controllable Digital Twin MVP</a:t>
            </a:r>
          </a:p>
        </p:txBody>
      </p:sp>
      <p:sp>
        <p:nvSpPr>
          <p:cNvPr id="19" name="">
            <a:extLst xmlns:a="http://schemas.openxmlformats.org/drawingml/2006/main">
              <a:ext uri="{FF2B5EF4-FFF2-40B4-BE49-F238E27FC236}">
                <a16:creationId xmlns:a16="http://schemas.microsoft.com/office/drawing/2014/main" id="{8A0B6784-7B9C-410A-A9D8-305BF2A7899E}"/>
              </a:ext>
            </a:extLst>
          </p:cNvPr>
          <p:cNvSpPr>
            <a:spLocks xmlns:a="http://schemas.openxmlformats.org/drawingml/2006/main" noGrp="1"/>
          </p:cNvSpPr>
          <p:nvPr/>
        </p:nvSpPr>
        <p:spPr>
          <a:xfrm xmlns:a="http://schemas.openxmlformats.org/drawingml/2006/main">
            <a:off x="11049000" y="65151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B6875"/>
                </a:solidFill>
              </a:defRPr>
            </a:pPr>
            <a:r>
              <a:rPr sz="1050" b="1">
                <a:solidFill>
                  <a:srgbClr val="5B6875"/>
                </a:solidFill>
              </a:rPr>
              <a:t>06</a:t>
            </a:r>
          </a:p>
        </p:txBody>
      </p:sp>
    </p:spTree>
    <p:extLst>
      <p:ext uri="{BB962C8B-B14F-4D97-AF65-F5344CB8AC3E}">
        <p14:creationId xmlns:p14="http://schemas.microsoft.com/office/powerpoint/2010/main" val="2086007969"/>
      </p:ext>
    </p:extLst>
  </p:cSld>
</p:sld>
</file>

<file path=ppt/slides/slide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45" name="section-label">
            <a:extLst xmlns:a="http://schemas.openxmlformats.org/drawingml/2006/main">
              <a:ext uri="{FF2B5EF4-FFF2-40B4-BE49-F238E27FC236}">
                <a16:creationId xmlns:a16="http://schemas.microsoft.com/office/drawing/2014/main" id="{64EA4D69-017D-494F-A0B9-C2F64D0EFF9E}"/>
              </a:ext>
            </a:extLst>
          </p:cNvPr>
          <p:cNvSpPr>
            <a:spLocks xmlns:a="http://schemas.openxmlformats.org/drawingml/2006/main" noGrp="1"/>
          </p:cNvSpPr>
          <p:nvPr/>
        </p:nvSpPr>
        <p:spPr>
          <a:xfrm xmlns:a="http://schemas.openxmlformats.org/drawingml/2006/main">
            <a:off x="647700" y="3238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8794E"/>
                </a:solidFill>
              </a:defRPr>
            </a:pPr>
            <a:r>
              <a:rPr sz="1200" b="1">
                <a:solidFill>
                  <a:srgbClr val="18794E"/>
                </a:solidFill>
              </a:rPr>
              <a:t>SYNTHESIS</a:t>
            </a:r>
          </a:p>
        </p:txBody>
      </p:sp>
      <p:sp>
        <p:nvSpPr>
          <p:cNvPr id="2" name="slide-title">
            <a:extLst xmlns:a="http://schemas.openxmlformats.org/drawingml/2006/main">
              <a:ext uri="{FF2B5EF4-FFF2-40B4-BE49-F238E27FC236}">
                <a16:creationId xmlns:a16="http://schemas.microsoft.com/office/drawing/2014/main" id="{92FA66E6-7551-41FA-AC6C-CB14ADE6F8DC}"/>
              </a:ext>
            </a:extLst>
          </p:cNvPr>
          <p:cNvSpPr>
            <a:spLocks xmlns:a="http://schemas.openxmlformats.org/drawingml/2006/main" noGrp="1"/>
          </p:cNvSpPr>
          <p:nvPr/>
        </p:nvSpPr>
        <p:spPr>
          <a:xfrm xmlns:a="http://schemas.openxmlformats.org/drawingml/2006/main">
            <a:off x="647700" y="647700"/>
            <a:ext cx="10896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0B1F33"/>
                </a:solidFill>
              </a:defRPr>
            </a:pPr>
            <a:r>
              <a:rPr sz="3300" b="1">
                <a:solidFill>
                  <a:srgbClr val="0B1F33"/>
                </a:solidFill>
              </a:rPr>
              <a:t>All required components of the bounded MVP passed</a:t>
            </a:r>
          </a:p>
        </p:txBody>
      </p:sp>
      <p:sp>
        <p:nvSpPr>
          <p:cNvPr id="3" name="">
            <a:extLst xmlns:a="http://schemas.openxmlformats.org/drawingml/2006/main">
              <a:ext uri="{FF2B5EF4-FFF2-40B4-BE49-F238E27FC236}">
                <a16:creationId xmlns:a16="http://schemas.microsoft.com/office/drawing/2014/main" id="{9E75C206-9BE3-4FDD-8A56-355B2F5A16D8}"/>
              </a:ext>
            </a:extLst>
          </p:cNvPr>
          <p:cNvSpPr>
            <a:spLocks xmlns:a="http://schemas.openxmlformats.org/drawingml/2006/main" noGrp="1"/>
          </p:cNvSpPr>
          <p:nvPr/>
        </p:nvSpPr>
        <p:spPr>
          <a:xfrm xmlns:a="http://schemas.openxmlformats.org/drawingml/2006/main">
            <a:off x="647700" y="1304925"/>
            <a:ext cx="10896600" cy="19050"/>
          </a:xfrm>
          <a:prstGeom xmlns:a="http://schemas.openxmlformats.org/drawingml/2006/main" prst="rect">
            <a:avLst/>
          </a:prstGeom>
          <a:solidFill xmlns:a="http://schemas.openxmlformats.org/drawingml/2006/main">
            <a:srgbClr val="D7DEE5"/>
          </a:solidFill>
          <a:ln xmlns:a="http://schemas.openxmlformats.org/drawingml/2006/main" w="0">
            <a:solidFill>
              <a:srgbClr val="D7DEE5"/>
            </a:solidFill>
            <a:prstDash val="solid"/>
          </a:ln>
        </p:spPr>
      </p:sp>
      <p:sp>
        <p:nvSpPr>
          <p:cNvPr id="4" name="">
            <a:extLst xmlns:a="http://schemas.openxmlformats.org/drawingml/2006/main">
              <a:ext uri="{FF2B5EF4-FFF2-40B4-BE49-F238E27FC236}">
                <a16:creationId xmlns:a16="http://schemas.microsoft.com/office/drawing/2014/main" id="{0B1885C7-35CB-472D-A898-73FBFC4CB0F1}"/>
              </a:ext>
            </a:extLst>
          </p:cNvPr>
          <p:cNvSpPr>
            <a:spLocks xmlns:a="http://schemas.openxmlformats.org/drawingml/2006/main" noGrp="1"/>
          </p:cNvSpPr>
          <p:nvPr/>
        </p:nvSpPr>
        <p:spPr>
          <a:xfrm xmlns:a="http://schemas.openxmlformats.org/drawingml/2006/main">
            <a:off x="876300" y="1676400"/>
            <a:ext cx="104394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7DEE5"/>
            </a:solidFill>
            <a:prstDash val="solid"/>
          </a:ln>
        </p:spPr>
      </p:sp>
      <p:sp>
        <p:nvSpPr>
          <p:cNvPr id="5" name="">
            <a:extLst xmlns:a="http://schemas.openxmlformats.org/drawingml/2006/main">
              <a:ext uri="{FF2B5EF4-FFF2-40B4-BE49-F238E27FC236}">
                <a16:creationId xmlns:a16="http://schemas.microsoft.com/office/drawing/2014/main" id="{71A87C74-4FF4-444D-BA67-408B8CAB17E2}"/>
              </a:ext>
            </a:extLst>
          </p:cNvPr>
          <p:cNvSpPr>
            <a:spLocks xmlns:a="http://schemas.openxmlformats.org/drawingml/2006/main" noGrp="1"/>
          </p:cNvSpPr>
          <p:nvPr/>
        </p:nvSpPr>
        <p:spPr>
          <a:xfrm xmlns:a="http://schemas.openxmlformats.org/drawingml/2006/main">
            <a:off x="1104900" y="18002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Reliable C006</a:t>
            </a:r>
          </a:p>
        </p:txBody>
      </p:sp>
      <p:sp>
        <p:nvSpPr>
          <p:cNvPr id="6" name="">
            <a:extLst xmlns:a="http://schemas.openxmlformats.org/drawingml/2006/main">
              <a:ext uri="{FF2B5EF4-FFF2-40B4-BE49-F238E27FC236}">
                <a16:creationId xmlns:a16="http://schemas.microsoft.com/office/drawing/2014/main" id="{DF7A0E88-8647-4B8F-A264-B92F1C56FFB0}"/>
              </a:ext>
            </a:extLst>
          </p:cNvPr>
          <p:cNvSpPr>
            <a:spLocks xmlns:a="http://schemas.openxmlformats.org/drawingml/2006/main" noGrp="1"/>
          </p:cNvSpPr>
          <p:nvPr/>
        </p:nvSpPr>
        <p:spPr>
          <a:xfrm xmlns:a="http://schemas.openxmlformats.org/drawingml/2006/main">
            <a:off x="4438650" y="18097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212B"/>
                </a:solidFill>
              </a:defRPr>
            </a:pPr>
            <a:r>
              <a:rPr sz="1425" b="0">
                <a:solidFill>
                  <a:srgbClr val="17212B"/>
                </a:solidFill>
              </a:rPr>
              <a:t>M1 selection + held-out + reproduction</a:t>
            </a:r>
          </a:p>
        </p:txBody>
      </p:sp>
      <p:sp>
        <p:nvSpPr>
          <p:cNvPr id="7" name="">
            <a:extLst xmlns:a="http://schemas.openxmlformats.org/drawingml/2006/main">
              <a:ext uri="{FF2B5EF4-FFF2-40B4-BE49-F238E27FC236}">
                <a16:creationId xmlns:a16="http://schemas.microsoft.com/office/drawing/2014/main" id="{63EBE4D8-113C-4412-B50D-B27FA1991719}"/>
              </a:ext>
            </a:extLst>
          </p:cNvPr>
          <p:cNvSpPr>
            <a:spLocks xmlns:a="http://schemas.openxmlformats.org/drawingml/2006/main" noGrp="1"/>
          </p:cNvSpPr>
          <p:nvPr/>
        </p:nvSpPr>
        <p:spPr>
          <a:xfrm xmlns:a="http://schemas.openxmlformats.org/drawingml/2006/main">
            <a:off x="9810750" y="1790700"/>
            <a:ext cx="1200150" cy="304800"/>
          </a:xfrm>
          <a:prstGeom xmlns:a="http://schemas.openxmlformats.org/drawingml/2006/main" prst="roundRect">
            <a:avLst>
              <a:gd name="adj" fmla="val 37500"/>
            </a:avLst>
          </a:prstGeom>
          <a:solidFill xmlns:a="http://schemas.openxmlformats.org/drawingml/2006/main">
            <a:srgbClr val="18794E"/>
          </a:solidFill>
          <a:ln xmlns:a="http://schemas.openxmlformats.org/drawingml/2006/main" w="0">
            <a:solidFill>
              <a:srgbClr val="18794E"/>
            </a:solidFill>
            <a:prstDash val="solid"/>
          </a:ln>
        </p:spPr>
      </p:sp>
      <p:sp>
        <p:nvSpPr>
          <p:cNvPr id="8" name="">
            <a:extLst xmlns:a="http://schemas.openxmlformats.org/drawingml/2006/main">
              <a:ext uri="{FF2B5EF4-FFF2-40B4-BE49-F238E27FC236}">
                <a16:creationId xmlns:a16="http://schemas.microsoft.com/office/drawing/2014/main" id="{8E2379F7-735B-4569-9AAA-44A03385FD79}"/>
              </a:ext>
            </a:extLst>
          </p:cNvPr>
          <p:cNvSpPr>
            <a:spLocks xmlns:a="http://schemas.openxmlformats.org/drawingml/2006/main" noGrp="1"/>
          </p:cNvSpPr>
          <p:nvPr/>
        </p:nvSpPr>
        <p:spPr>
          <a:xfrm xmlns:a="http://schemas.openxmlformats.org/drawingml/2006/main">
            <a:off x="9810750" y="18288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PASS</a:t>
            </a:r>
          </a:p>
        </p:txBody>
      </p:sp>
      <p:sp>
        <p:nvSpPr>
          <p:cNvPr id="9" name="">
            <a:extLst xmlns:a="http://schemas.openxmlformats.org/drawingml/2006/main">
              <a:ext uri="{FF2B5EF4-FFF2-40B4-BE49-F238E27FC236}">
                <a16:creationId xmlns:a16="http://schemas.microsoft.com/office/drawing/2014/main" id="{41DE4238-0785-4810-9CCB-147B33C259AA}"/>
              </a:ext>
            </a:extLst>
          </p:cNvPr>
          <p:cNvSpPr>
            <a:spLocks xmlns:a="http://schemas.openxmlformats.org/drawingml/2006/main" noGrp="1"/>
          </p:cNvSpPr>
          <p:nvPr/>
        </p:nvSpPr>
        <p:spPr>
          <a:xfrm xmlns:a="http://schemas.openxmlformats.org/drawingml/2006/main">
            <a:off x="876300" y="2228850"/>
            <a:ext cx="10439400" cy="533400"/>
          </a:xfrm>
          <a:prstGeom xmlns:a="http://schemas.openxmlformats.org/drawingml/2006/main" prst="rect">
            <a:avLst/>
          </a:prstGeom>
          <a:solidFill xmlns:a="http://schemas.openxmlformats.org/drawingml/2006/main">
            <a:srgbClr val="EDF2F5"/>
          </a:solidFill>
          <a:ln xmlns:a="http://schemas.openxmlformats.org/drawingml/2006/main" w="9525">
            <a:solidFill>
              <a:srgbClr val="D7DEE5"/>
            </a:solidFill>
            <a:prstDash val="solid"/>
          </a:ln>
        </p:spPr>
      </p:sp>
      <p:sp>
        <p:nvSpPr>
          <p:cNvPr id="10" name="">
            <a:extLst xmlns:a="http://schemas.openxmlformats.org/drawingml/2006/main">
              <a:ext uri="{FF2B5EF4-FFF2-40B4-BE49-F238E27FC236}">
                <a16:creationId xmlns:a16="http://schemas.microsoft.com/office/drawing/2014/main" id="{2A5BC9C3-E01E-4158-99A4-C84DE3BA8586}"/>
              </a:ext>
            </a:extLst>
          </p:cNvPr>
          <p:cNvSpPr>
            <a:spLocks xmlns:a="http://schemas.openxmlformats.org/drawingml/2006/main" noGrp="1"/>
          </p:cNvSpPr>
          <p:nvPr/>
        </p:nvSpPr>
        <p:spPr>
          <a:xfrm xmlns:a="http://schemas.openxmlformats.org/drawingml/2006/main">
            <a:off x="1104900" y="235267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Frozen provenance</a:t>
            </a:r>
          </a:p>
        </p:txBody>
      </p:sp>
      <p:sp>
        <p:nvSpPr>
          <p:cNvPr id="11" name="">
            <a:extLst xmlns:a="http://schemas.openxmlformats.org/drawingml/2006/main">
              <a:ext uri="{FF2B5EF4-FFF2-40B4-BE49-F238E27FC236}">
                <a16:creationId xmlns:a16="http://schemas.microsoft.com/office/drawing/2014/main" id="{EB402047-AFB7-4DDE-8662-3841F0632C9F}"/>
              </a:ext>
            </a:extLst>
          </p:cNvPr>
          <p:cNvSpPr>
            <a:spLocks xmlns:a="http://schemas.openxmlformats.org/drawingml/2006/main" noGrp="1"/>
          </p:cNvSpPr>
          <p:nvPr/>
        </p:nvSpPr>
        <p:spPr>
          <a:xfrm xmlns:a="http://schemas.openxmlformats.org/drawingml/2006/main">
            <a:off x="4438650" y="23622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212B"/>
                </a:solidFill>
              </a:defRPr>
            </a:pPr>
            <a:r>
              <a:rPr sz="1425" b="0">
                <a:solidFill>
                  <a:srgbClr val="17212B"/>
                </a:solidFill>
              </a:rPr>
              <a:t>M1 identities retained in all six C1 runs</a:t>
            </a:r>
          </a:p>
        </p:txBody>
      </p:sp>
      <p:sp>
        <p:nvSpPr>
          <p:cNvPr id="12" name="">
            <a:extLst xmlns:a="http://schemas.openxmlformats.org/drawingml/2006/main">
              <a:ext uri="{FF2B5EF4-FFF2-40B4-BE49-F238E27FC236}">
                <a16:creationId xmlns:a16="http://schemas.microsoft.com/office/drawing/2014/main" id="{0030E9FF-4F05-487D-994D-5CC1AD088F70}"/>
              </a:ext>
            </a:extLst>
          </p:cNvPr>
          <p:cNvSpPr>
            <a:spLocks xmlns:a="http://schemas.openxmlformats.org/drawingml/2006/main" noGrp="1"/>
          </p:cNvSpPr>
          <p:nvPr/>
        </p:nvSpPr>
        <p:spPr>
          <a:xfrm xmlns:a="http://schemas.openxmlformats.org/drawingml/2006/main">
            <a:off x="9810750" y="2343150"/>
            <a:ext cx="1200150" cy="304800"/>
          </a:xfrm>
          <a:prstGeom xmlns:a="http://schemas.openxmlformats.org/drawingml/2006/main" prst="roundRect">
            <a:avLst>
              <a:gd name="adj" fmla="val 37500"/>
            </a:avLst>
          </a:prstGeom>
          <a:solidFill xmlns:a="http://schemas.openxmlformats.org/drawingml/2006/main">
            <a:srgbClr val="18794E"/>
          </a:solidFill>
          <a:ln xmlns:a="http://schemas.openxmlformats.org/drawingml/2006/main" w="0">
            <a:solidFill>
              <a:srgbClr val="18794E"/>
            </a:solidFill>
            <a:prstDash val="solid"/>
          </a:ln>
        </p:spPr>
      </p:sp>
      <p:sp>
        <p:nvSpPr>
          <p:cNvPr id="13" name="">
            <a:extLst xmlns:a="http://schemas.openxmlformats.org/drawingml/2006/main">
              <a:ext uri="{FF2B5EF4-FFF2-40B4-BE49-F238E27FC236}">
                <a16:creationId xmlns:a16="http://schemas.microsoft.com/office/drawing/2014/main" id="{2F960682-085B-4331-8BE2-D252FE68BAC3}"/>
              </a:ext>
            </a:extLst>
          </p:cNvPr>
          <p:cNvSpPr>
            <a:spLocks xmlns:a="http://schemas.openxmlformats.org/drawingml/2006/main" noGrp="1"/>
          </p:cNvSpPr>
          <p:nvPr/>
        </p:nvSpPr>
        <p:spPr>
          <a:xfrm xmlns:a="http://schemas.openxmlformats.org/drawingml/2006/main">
            <a:off x="9810750" y="238125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PASS</a:t>
            </a:r>
          </a:p>
        </p:txBody>
      </p:sp>
      <p:sp>
        <p:nvSpPr>
          <p:cNvPr id="14" name="">
            <a:extLst xmlns:a="http://schemas.openxmlformats.org/drawingml/2006/main">
              <a:ext uri="{FF2B5EF4-FFF2-40B4-BE49-F238E27FC236}">
                <a16:creationId xmlns:a16="http://schemas.microsoft.com/office/drawing/2014/main" id="{B6F5C4E2-895E-4498-8B01-8193992CA2E5}"/>
              </a:ext>
            </a:extLst>
          </p:cNvPr>
          <p:cNvSpPr>
            <a:spLocks xmlns:a="http://schemas.openxmlformats.org/drawingml/2006/main" noGrp="1"/>
          </p:cNvSpPr>
          <p:nvPr/>
        </p:nvSpPr>
        <p:spPr>
          <a:xfrm xmlns:a="http://schemas.openxmlformats.org/drawingml/2006/main">
            <a:off x="876300" y="2781300"/>
            <a:ext cx="104394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7DEE5"/>
            </a:solidFill>
            <a:prstDash val="solid"/>
          </a:ln>
        </p:spPr>
      </p:sp>
      <p:sp>
        <p:nvSpPr>
          <p:cNvPr id="15" name="">
            <a:extLst xmlns:a="http://schemas.openxmlformats.org/drawingml/2006/main">
              <a:ext uri="{FF2B5EF4-FFF2-40B4-BE49-F238E27FC236}">
                <a16:creationId xmlns:a16="http://schemas.microsoft.com/office/drawing/2014/main" id="{4B511A18-FE1F-4403-A072-9D45F34DFD0C}"/>
              </a:ext>
            </a:extLst>
          </p:cNvPr>
          <p:cNvSpPr>
            <a:spLocks xmlns:a="http://schemas.openxmlformats.org/drawingml/2006/main" noGrp="1"/>
          </p:cNvSpPr>
          <p:nvPr/>
        </p:nvSpPr>
        <p:spPr>
          <a:xfrm xmlns:a="http://schemas.openxmlformats.org/drawingml/2006/main">
            <a:off x="1104900" y="29051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Frozen causal F01</a:t>
            </a:r>
          </a:p>
        </p:txBody>
      </p:sp>
      <p:sp>
        <p:nvSpPr>
          <p:cNvPr id="16" name="">
            <a:extLst xmlns:a="http://schemas.openxmlformats.org/drawingml/2006/main">
              <a:ext uri="{FF2B5EF4-FFF2-40B4-BE49-F238E27FC236}">
                <a16:creationId xmlns:a16="http://schemas.microsoft.com/office/drawing/2014/main" id="{28FA8255-B7DA-4E9B-8A6E-037E23F368B2}"/>
              </a:ext>
            </a:extLst>
          </p:cNvPr>
          <p:cNvSpPr>
            <a:spLocks xmlns:a="http://schemas.openxmlformats.org/drawingml/2006/main" noGrp="1"/>
          </p:cNvSpPr>
          <p:nvPr/>
        </p:nvSpPr>
        <p:spPr>
          <a:xfrm xmlns:a="http://schemas.openxmlformats.org/drawingml/2006/main">
            <a:off x="4438650" y="29146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212B"/>
                </a:solidFill>
              </a:defRPr>
            </a:pPr>
            <a:r>
              <a:rPr sz="1425" b="0">
                <a:solidFill>
                  <a:srgbClr val="17212B"/>
                </a:solidFill>
              </a:rPr>
              <a:t>No retuning during fresh confirmation</a:t>
            </a:r>
          </a:p>
        </p:txBody>
      </p:sp>
      <p:sp>
        <p:nvSpPr>
          <p:cNvPr id="17" name="">
            <a:extLst xmlns:a="http://schemas.openxmlformats.org/drawingml/2006/main">
              <a:ext uri="{FF2B5EF4-FFF2-40B4-BE49-F238E27FC236}">
                <a16:creationId xmlns:a16="http://schemas.microsoft.com/office/drawing/2014/main" id="{E72D5D86-6DC4-414B-AEEE-B2991C804326}"/>
              </a:ext>
            </a:extLst>
          </p:cNvPr>
          <p:cNvSpPr>
            <a:spLocks xmlns:a="http://schemas.openxmlformats.org/drawingml/2006/main" noGrp="1"/>
          </p:cNvSpPr>
          <p:nvPr/>
        </p:nvSpPr>
        <p:spPr>
          <a:xfrm xmlns:a="http://schemas.openxmlformats.org/drawingml/2006/main">
            <a:off x="9810750" y="2895600"/>
            <a:ext cx="1200150" cy="304800"/>
          </a:xfrm>
          <a:prstGeom xmlns:a="http://schemas.openxmlformats.org/drawingml/2006/main" prst="roundRect">
            <a:avLst>
              <a:gd name="adj" fmla="val 37500"/>
            </a:avLst>
          </a:prstGeom>
          <a:solidFill xmlns:a="http://schemas.openxmlformats.org/drawingml/2006/main">
            <a:srgbClr val="18794E"/>
          </a:solidFill>
          <a:ln xmlns:a="http://schemas.openxmlformats.org/drawingml/2006/main" w="0">
            <a:solidFill>
              <a:srgbClr val="18794E"/>
            </a:solidFill>
            <a:prstDash val="solid"/>
          </a:ln>
        </p:spPr>
      </p:sp>
      <p:sp>
        <p:nvSpPr>
          <p:cNvPr id="18" name="">
            <a:extLst xmlns:a="http://schemas.openxmlformats.org/drawingml/2006/main">
              <a:ext uri="{FF2B5EF4-FFF2-40B4-BE49-F238E27FC236}">
                <a16:creationId xmlns:a16="http://schemas.microsoft.com/office/drawing/2014/main" id="{D1142DCA-FF6B-4249-8AE4-0CC624FFDC1A}"/>
              </a:ext>
            </a:extLst>
          </p:cNvPr>
          <p:cNvSpPr>
            <a:spLocks xmlns:a="http://schemas.openxmlformats.org/drawingml/2006/main" noGrp="1"/>
          </p:cNvSpPr>
          <p:nvPr/>
        </p:nvSpPr>
        <p:spPr>
          <a:xfrm xmlns:a="http://schemas.openxmlformats.org/drawingml/2006/main">
            <a:off x="9810750" y="29337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PASS</a:t>
            </a:r>
          </a:p>
        </p:txBody>
      </p:sp>
      <p:sp>
        <p:nvSpPr>
          <p:cNvPr id="19" name="">
            <a:extLst xmlns:a="http://schemas.openxmlformats.org/drawingml/2006/main">
              <a:ext uri="{FF2B5EF4-FFF2-40B4-BE49-F238E27FC236}">
                <a16:creationId xmlns:a16="http://schemas.microsoft.com/office/drawing/2014/main" id="{11CAD06E-9D82-4E4A-ADA0-4364BEE269C1}"/>
              </a:ext>
            </a:extLst>
          </p:cNvPr>
          <p:cNvSpPr>
            <a:spLocks xmlns:a="http://schemas.openxmlformats.org/drawingml/2006/main" noGrp="1"/>
          </p:cNvSpPr>
          <p:nvPr/>
        </p:nvSpPr>
        <p:spPr>
          <a:xfrm xmlns:a="http://schemas.openxmlformats.org/drawingml/2006/main">
            <a:off x="876300" y="3333750"/>
            <a:ext cx="10439400" cy="533400"/>
          </a:xfrm>
          <a:prstGeom xmlns:a="http://schemas.openxmlformats.org/drawingml/2006/main" prst="rect">
            <a:avLst/>
          </a:prstGeom>
          <a:solidFill xmlns:a="http://schemas.openxmlformats.org/drawingml/2006/main">
            <a:srgbClr val="EDF2F5"/>
          </a:solidFill>
          <a:ln xmlns:a="http://schemas.openxmlformats.org/drawingml/2006/main" w="9525">
            <a:solidFill>
              <a:srgbClr val="D7DEE5"/>
            </a:solidFill>
            <a:prstDash val="solid"/>
          </a:ln>
        </p:spPr>
      </p:sp>
      <p:sp>
        <p:nvSpPr>
          <p:cNvPr id="20" name="">
            <a:extLst xmlns:a="http://schemas.openxmlformats.org/drawingml/2006/main">
              <a:ext uri="{FF2B5EF4-FFF2-40B4-BE49-F238E27FC236}">
                <a16:creationId xmlns:a16="http://schemas.microsoft.com/office/drawing/2014/main" id="{3041D659-C6F7-4600-A949-C127F2A2822A}"/>
              </a:ext>
            </a:extLst>
          </p:cNvPr>
          <p:cNvSpPr>
            <a:spLocks xmlns:a="http://schemas.openxmlformats.org/drawingml/2006/main" noGrp="1"/>
          </p:cNvSpPr>
          <p:nvPr/>
        </p:nvSpPr>
        <p:spPr>
          <a:xfrm xmlns:a="http://schemas.openxmlformats.org/drawingml/2006/main">
            <a:off x="1104900" y="345757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Bounded legal actuator</a:t>
            </a:r>
          </a:p>
        </p:txBody>
      </p:sp>
      <p:sp>
        <p:nvSpPr>
          <p:cNvPr id="21" name="">
            <a:extLst xmlns:a="http://schemas.openxmlformats.org/drawingml/2006/main">
              <a:ext uri="{FF2B5EF4-FFF2-40B4-BE49-F238E27FC236}">
                <a16:creationId xmlns:a16="http://schemas.microsoft.com/office/drawing/2014/main" id="{C61827AB-272A-45F2-B122-FD3315FF92AA}"/>
              </a:ext>
            </a:extLst>
          </p:cNvPr>
          <p:cNvSpPr>
            <a:spLocks xmlns:a="http://schemas.openxmlformats.org/drawingml/2006/main" noGrp="1"/>
          </p:cNvSpPr>
          <p:nvPr/>
        </p:nvSpPr>
        <p:spPr>
          <a:xfrm xmlns:a="http://schemas.openxmlformats.org/drawingml/2006/main">
            <a:off x="4438650" y="34671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212B"/>
                </a:solidFill>
              </a:defRPr>
            </a:pPr>
            <a:r>
              <a:rPr sz="1425" b="0">
                <a:solidFill>
                  <a:srgbClr val="17212B"/>
                </a:solidFill>
              </a:rPr>
              <a:t>u_E = 0.045 inside [0, 0.05]</a:t>
            </a:r>
          </a:p>
        </p:txBody>
      </p:sp>
      <p:sp>
        <p:nvSpPr>
          <p:cNvPr id="22" name="">
            <a:extLst xmlns:a="http://schemas.openxmlformats.org/drawingml/2006/main">
              <a:ext uri="{FF2B5EF4-FFF2-40B4-BE49-F238E27FC236}">
                <a16:creationId xmlns:a16="http://schemas.microsoft.com/office/drawing/2014/main" id="{7476EC2D-190F-4FA8-9E2B-4FAD78EA2455}"/>
              </a:ext>
            </a:extLst>
          </p:cNvPr>
          <p:cNvSpPr>
            <a:spLocks xmlns:a="http://schemas.openxmlformats.org/drawingml/2006/main" noGrp="1"/>
          </p:cNvSpPr>
          <p:nvPr/>
        </p:nvSpPr>
        <p:spPr>
          <a:xfrm xmlns:a="http://schemas.openxmlformats.org/drawingml/2006/main">
            <a:off x="9810750" y="3448050"/>
            <a:ext cx="1200150" cy="304800"/>
          </a:xfrm>
          <a:prstGeom xmlns:a="http://schemas.openxmlformats.org/drawingml/2006/main" prst="roundRect">
            <a:avLst>
              <a:gd name="adj" fmla="val 37500"/>
            </a:avLst>
          </a:prstGeom>
          <a:solidFill xmlns:a="http://schemas.openxmlformats.org/drawingml/2006/main">
            <a:srgbClr val="18794E"/>
          </a:solidFill>
          <a:ln xmlns:a="http://schemas.openxmlformats.org/drawingml/2006/main" w="0">
            <a:solidFill>
              <a:srgbClr val="18794E"/>
            </a:solidFill>
            <a:prstDash val="solid"/>
          </a:ln>
        </p:spPr>
      </p:sp>
      <p:sp>
        <p:nvSpPr>
          <p:cNvPr id="23" name="">
            <a:extLst xmlns:a="http://schemas.openxmlformats.org/drawingml/2006/main">
              <a:ext uri="{FF2B5EF4-FFF2-40B4-BE49-F238E27FC236}">
                <a16:creationId xmlns:a16="http://schemas.microsoft.com/office/drawing/2014/main" id="{1E1739E0-C34B-4BD9-934F-8CB6748759E3}"/>
              </a:ext>
            </a:extLst>
          </p:cNvPr>
          <p:cNvSpPr>
            <a:spLocks xmlns:a="http://schemas.openxmlformats.org/drawingml/2006/main" noGrp="1"/>
          </p:cNvSpPr>
          <p:nvPr/>
        </p:nvSpPr>
        <p:spPr>
          <a:xfrm xmlns:a="http://schemas.openxmlformats.org/drawingml/2006/main">
            <a:off x="9810750" y="348615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PASS</a:t>
            </a:r>
          </a:p>
        </p:txBody>
      </p:sp>
      <p:sp>
        <p:nvSpPr>
          <p:cNvPr id="24" name="">
            <a:extLst xmlns:a="http://schemas.openxmlformats.org/drawingml/2006/main">
              <a:ext uri="{FF2B5EF4-FFF2-40B4-BE49-F238E27FC236}">
                <a16:creationId xmlns:a16="http://schemas.microsoft.com/office/drawing/2014/main" id="{FB914AB9-7FBC-49AE-832B-711FC1040E50}"/>
              </a:ext>
            </a:extLst>
          </p:cNvPr>
          <p:cNvSpPr>
            <a:spLocks xmlns:a="http://schemas.openxmlformats.org/drawingml/2006/main" noGrp="1"/>
          </p:cNvSpPr>
          <p:nvPr/>
        </p:nvSpPr>
        <p:spPr>
          <a:xfrm xmlns:a="http://schemas.openxmlformats.org/drawingml/2006/main">
            <a:off x="876300" y="3886200"/>
            <a:ext cx="104394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7DEE5"/>
            </a:solidFill>
            <a:prstDash val="solid"/>
          </a:ln>
        </p:spPr>
      </p:sp>
      <p:sp>
        <p:nvSpPr>
          <p:cNvPr id="25" name="">
            <a:extLst xmlns:a="http://schemas.openxmlformats.org/drawingml/2006/main">
              <a:ext uri="{FF2B5EF4-FFF2-40B4-BE49-F238E27FC236}">
                <a16:creationId xmlns:a16="http://schemas.microsoft.com/office/drawing/2014/main" id="{ABE04C4A-8137-4D1E-BF12-B7E7D301E0B3}"/>
              </a:ext>
            </a:extLst>
          </p:cNvPr>
          <p:cNvSpPr>
            <a:spLocks xmlns:a="http://schemas.openxmlformats.org/drawingml/2006/main" noGrp="1"/>
          </p:cNvSpPr>
          <p:nvPr/>
        </p:nvSpPr>
        <p:spPr>
          <a:xfrm xmlns:a="http://schemas.openxmlformats.org/drawingml/2006/main">
            <a:off x="1104900" y="40100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Fresh multi-seed T2</a:t>
            </a:r>
          </a:p>
        </p:txBody>
      </p:sp>
      <p:sp>
        <p:nvSpPr>
          <p:cNvPr id="26" name="">
            <a:extLst xmlns:a="http://schemas.openxmlformats.org/drawingml/2006/main">
              <a:ext uri="{FF2B5EF4-FFF2-40B4-BE49-F238E27FC236}">
                <a16:creationId xmlns:a16="http://schemas.microsoft.com/office/drawing/2014/main" id="{D0254488-FE28-43CA-B81B-7676AEE6A68C}"/>
              </a:ext>
            </a:extLst>
          </p:cNvPr>
          <p:cNvSpPr>
            <a:spLocks xmlns:a="http://schemas.openxmlformats.org/drawingml/2006/main" noGrp="1"/>
          </p:cNvSpPr>
          <p:nvPr/>
        </p:nvSpPr>
        <p:spPr>
          <a:xfrm xmlns:a="http://schemas.openxmlformats.org/drawingml/2006/main">
            <a:off x="4438650" y="40195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212B"/>
                </a:solidFill>
              </a:defRPr>
            </a:pPr>
            <a:r>
              <a:rPr sz="1425" b="0">
                <a:solidFill>
                  <a:srgbClr val="17212B"/>
                </a:solidFill>
              </a:rPr>
              <a:t>3/3 positive at 220 s</a:t>
            </a:r>
          </a:p>
        </p:txBody>
      </p:sp>
      <p:sp>
        <p:nvSpPr>
          <p:cNvPr id="27" name="">
            <a:extLst xmlns:a="http://schemas.openxmlformats.org/drawingml/2006/main">
              <a:ext uri="{FF2B5EF4-FFF2-40B4-BE49-F238E27FC236}">
                <a16:creationId xmlns:a16="http://schemas.microsoft.com/office/drawing/2014/main" id="{927CACAF-BBD6-4F04-B2B6-B715FF9891E3}"/>
              </a:ext>
            </a:extLst>
          </p:cNvPr>
          <p:cNvSpPr>
            <a:spLocks xmlns:a="http://schemas.openxmlformats.org/drawingml/2006/main" noGrp="1"/>
          </p:cNvSpPr>
          <p:nvPr/>
        </p:nvSpPr>
        <p:spPr>
          <a:xfrm xmlns:a="http://schemas.openxmlformats.org/drawingml/2006/main">
            <a:off x="9810750" y="4000500"/>
            <a:ext cx="1200150" cy="304800"/>
          </a:xfrm>
          <a:prstGeom xmlns:a="http://schemas.openxmlformats.org/drawingml/2006/main" prst="roundRect">
            <a:avLst>
              <a:gd name="adj" fmla="val 37500"/>
            </a:avLst>
          </a:prstGeom>
          <a:solidFill xmlns:a="http://schemas.openxmlformats.org/drawingml/2006/main">
            <a:srgbClr val="18794E"/>
          </a:solidFill>
          <a:ln xmlns:a="http://schemas.openxmlformats.org/drawingml/2006/main" w="0">
            <a:solidFill>
              <a:srgbClr val="18794E"/>
            </a:solidFill>
            <a:prstDash val="solid"/>
          </a:ln>
        </p:spPr>
      </p:sp>
      <p:sp>
        <p:nvSpPr>
          <p:cNvPr id="28" name="">
            <a:extLst xmlns:a="http://schemas.openxmlformats.org/drawingml/2006/main">
              <a:ext uri="{FF2B5EF4-FFF2-40B4-BE49-F238E27FC236}">
                <a16:creationId xmlns:a16="http://schemas.microsoft.com/office/drawing/2014/main" id="{936E4B4E-6F38-49ED-B4A2-C6D76E51A54E}"/>
              </a:ext>
            </a:extLst>
          </p:cNvPr>
          <p:cNvSpPr>
            <a:spLocks xmlns:a="http://schemas.openxmlformats.org/drawingml/2006/main" noGrp="1"/>
          </p:cNvSpPr>
          <p:nvPr/>
        </p:nvSpPr>
        <p:spPr>
          <a:xfrm xmlns:a="http://schemas.openxmlformats.org/drawingml/2006/main">
            <a:off x="9810750" y="40386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PASS</a:t>
            </a:r>
          </a:p>
        </p:txBody>
      </p:sp>
      <p:sp>
        <p:nvSpPr>
          <p:cNvPr id="29" name="">
            <a:extLst xmlns:a="http://schemas.openxmlformats.org/drawingml/2006/main">
              <a:ext uri="{FF2B5EF4-FFF2-40B4-BE49-F238E27FC236}">
                <a16:creationId xmlns:a16="http://schemas.microsoft.com/office/drawing/2014/main" id="{074E7D2E-6FCE-4DDC-8141-2429DD8519AA}"/>
              </a:ext>
            </a:extLst>
          </p:cNvPr>
          <p:cNvSpPr>
            <a:spLocks xmlns:a="http://schemas.openxmlformats.org/drawingml/2006/main" noGrp="1"/>
          </p:cNvSpPr>
          <p:nvPr/>
        </p:nvSpPr>
        <p:spPr>
          <a:xfrm xmlns:a="http://schemas.openxmlformats.org/drawingml/2006/main">
            <a:off x="876300" y="4438650"/>
            <a:ext cx="10439400" cy="533400"/>
          </a:xfrm>
          <a:prstGeom xmlns:a="http://schemas.openxmlformats.org/drawingml/2006/main" prst="rect">
            <a:avLst/>
          </a:prstGeom>
          <a:solidFill xmlns:a="http://schemas.openxmlformats.org/drawingml/2006/main">
            <a:srgbClr val="EDF2F5"/>
          </a:solidFill>
          <a:ln xmlns:a="http://schemas.openxmlformats.org/drawingml/2006/main" w="9525">
            <a:solidFill>
              <a:srgbClr val="D7DEE5"/>
            </a:solidFill>
            <a:prstDash val="solid"/>
          </a:ln>
        </p:spPr>
      </p:sp>
      <p:sp>
        <p:nvSpPr>
          <p:cNvPr id="30" name="">
            <a:extLst xmlns:a="http://schemas.openxmlformats.org/drawingml/2006/main">
              <a:ext uri="{FF2B5EF4-FFF2-40B4-BE49-F238E27FC236}">
                <a16:creationId xmlns:a16="http://schemas.microsoft.com/office/drawing/2014/main" id="{E4F2A146-0D88-4FDD-968F-55117472D43C}"/>
              </a:ext>
            </a:extLst>
          </p:cNvPr>
          <p:cNvSpPr>
            <a:spLocks xmlns:a="http://schemas.openxmlformats.org/drawingml/2006/main" noGrp="1"/>
          </p:cNvSpPr>
          <p:nvPr/>
        </p:nvSpPr>
        <p:spPr>
          <a:xfrm xmlns:a="http://schemas.openxmlformats.org/drawingml/2006/main">
            <a:off x="1104900" y="456247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910 s duration robustness</a:t>
            </a:r>
          </a:p>
        </p:txBody>
      </p:sp>
      <p:sp>
        <p:nvSpPr>
          <p:cNvPr id="31" name="">
            <a:extLst xmlns:a="http://schemas.openxmlformats.org/drawingml/2006/main">
              <a:ext uri="{FF2B5EF4-FFF2-40B4-BE49-F238E27FC236}">
                <a16:creationId xmlns:a16="http://schemas.microsoft.com/office/drawing/2014/main" id="{4BC5714D-7EAC-4AE0-A82D-0B99BD6FF5D5}"/>
              </a:ext>
            </a:extLst>
          </p:cNvPr>
          <p:cNvSpPr>
            <a:spLocks xmlns:a="http://schemas.openxmlformats.org/drawingml/2006/main" noGrp="1"/>
          </p:cNvSpPr>
          <p:nvPr/>
        </p:nvSpPr>
        <p:spPr>
          <a:xfrm xmlns:a="http://schemas.openxmlformats.org/drawingml/2006/main">
            <a:off x="4438650" y="4572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212B"/>
                </a:solidFill>
              </a:defRPr>
            </a:pPr>
            <a:r>
              <a:rPr sz="1425" b="0">
                <a:solidFill>
                  <a:srgbClr val="17212B"/>
                </a:solidFill>
              </a:rPr>
              <a:t>3/3 positive at 910 s</a:t>
            </a:r>
          </a:p>
        </p:txBody>
      </p:sp>
      <p:sp>
        <p:nvSpPr>
          <p:cNvPr id="32" name="">
            <a:extLst xmlns:a="http://schemas.openxmlformats.org/drawingml/2006/main">
              <a:ext uri="{FF2B5EF4-FFF2-40B4-BE49-F238E27FC236}">
                <a16:creationId xmlns:a16="http://schemas.microsoft.com/office/drawing/2014/main" id="{32A35AE3-2178-4906-95BA-6A22A433ED28}"/>
              </a:ext>
            </a:extLst>
          </p:cNvPr>
          <p:cNvSpPr>
            <a:spLocks xmlns:a="http://schemas.openxmlformats.org/drawingml/2006/main" noGrp="1"/>
          </p:cNvSpPr>
          <p:nvPr/>
        </p:nvSpPr>
        <p:spPr>
          <a:xfrm xmlns:a="http://schemas.openxmlformats.org/drawingml/2006/main">
            <a:off x="9810750" y="4552950"/>
            <a:ext cx="1200150" cy="304800"/>
          </a:xfrm>
          <a:prstGeom xmlns:a="http://schemas.openxmlformats.org/drawingml/2006/main" prst="roundRect">
            <a:avLst>
              <a:gd name="adj" fmla="val 37500"/>
            </a:avLst>
          </a:prstGeom>
          <a:solidFill xmlns:a="http://schemas.openxmlformats.org/drawingml/2006/main">
            <a:srgbClr val="18794E"/>
          </a:solidFill>
          <a:ln xmlns:a="http://schemas.openxmlformats.org/drawingml/2006/main" w="0">
            <a:solidFill>
              <a:srgbClr val="18794E"/>
            </a:solidFill>
            <a:prstDash val="solid"/>
          </a:ln>
        </p:spPr>
      </p:sp>
      <p:sp>
        <p:nvSpPr>
          <p:cNvPr id="33" name="">
            <a:extLst xmlns:a="http://schemas.openxmlformats.org/drawingml/2006/main">
              <a:ext uri="{FF2B5EF4-FFF2-40B4-BE49-F238E27FC236}">
                <a16:creationId xmlns:a16="http://schemas.microsoft.com/office/drawing/2014/main" id="{275397CB-5027-4768-B66A-1C3F41386E42}"/>
              </a:ext>
            </a:extLst>
          </p:cNvPr>
          <p:cNvSpPr>
            <a:spLocks xmlns:a="http://schemas.openxmlformats.org/drawingml/2006/main" noGrp="1"/>
          </p:cNvSpPr>
          <p:nvPr/>
        </p:nvSpPr>
        <p:spPr>
          <a:xfrm xmlns:a="http://schemas.openxmlformats.org/drawingml/2006/main">
            <a:off x="9810750" y="459105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PASS</a:t>
            </a:r>
          </a:p>
        </p:txBody>
      </p:sp>
      <p:sp>
        <p:nvSpPr>
          <p:cNvPr id="34" name="">
            <a:extLst xmlns:a="http://schemas.openxmlformats.org/drawingml/2006/main">
              <a:ext uri="{FF2B5EF4-FFF2-40B4-BE49-F238E27FC236}">
                <a16:creationId xmlns:a16="http://schemas.microsoft.com/office/drawing/2014/main" id="{8D81AFF6-F05F-4D37-A5A4-50E887DF2344}"/>
              </a:ext>
            </a:extLst>
          </p:cNvPr>
          <p:cNvSpPr>
            <a:spLocks xmlns:a="http://schemas.openxmlformats.org/drawingml/2006/main" noGrp="1"/>
          </p:cNvSpPr>
          <p:nvPr/>
        </p:nvSpPr>
        <p:spPr>
          <a:xfrm xmlns:a="http://schemas.openxmlformats.org/drawingml/2006/main">
            <a:off x="876300" y="4991100"/>
            <a:ext cx="104394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7DEE5"/>
            </a:solidFill>
            <a:prstDash val="solid"/>
          </a:ln>
        </p:spPr>
      </p:sp>
      <p:sp>
        <p:nvSpPr>
          <p:cNvPr id="35" name="">
            <a:extLst xmlns:a="http://schemas.openxmlformats.org/drawingml/2006/main">
              <a:ext uri="{FF2B5EF4-FFF2-40B4-BE49-F238E27FC236}">
                <a16:creationId xmlns:a16="http://schemas.microsoft.com/office/drawing/2014/main" id="{EC530D33-D063-425D-94DD-DF174B11B5E4}"/>
              </a:ext>
            </a:extLst>
          </p:cNvPr>
          <p:cNvSpPr>
            <a:spLocks xmlns:a="http://schemas.openxmlformats.org/drawingml/2006/main" noGrp="1"/>
          </p:cNvSpPr>
          <p:nvPr/>
        </p:nvSpPr>
        <p:spPr>
          <a:xfrm xmlns:a="http://schemas.openxmlformats.org/drawingml/2006/main">
            <a:off x="1104900" y="51149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I_SO corroboration</a:t>
            </a:r>
          </a:p>
        </p:txBody>
      </p:sp>
      <p:sp>
        <p:nvSpPr>
          <p:cNvPr id="36" name="">
            <a:extLst xmlns:a="http://schemas.openxmlformats.org/drawingml/2006/main">
              <a:ext uri="{FF2B5EF4-FFF2-40B4-BE49-F238E27FC236}">
                <a16:creationId xmlns:a16="http://schemas.microsoft.com/office/drawing/2014/main" id="{C689C4D6-3DF8-4755-8349-F16BF24167BD}"/>
              </a:ext>
            </a:extLst>
          </p:cNvPr>
          <p:cNvSpPr>
            <a:spLocks xmlns:a="http://schemas.openxmlformats.org/drawingml/2006/main" noGrp="1"/>
          </p:cNvSpPr>
          <p:nvPr/>
        </p:nvSpPr>
        <p:spPr>
          <a:xfrm xmlns:a="http://schemas.openxmlformats.org/drawingml/2006/main">
            <a:off x="4438650" y="5124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212B"/>
                </a:solidFill>
              </a:defRPr>
            </a:pPr>
            <a:r>
              <a:rPr sz="1425" b="0">
                <a:solidFill>
                  <a:srgbClr val="17212B"/>
                </a:solidFill>
              </a:rPr>
              <a:t>3/3 supportive at both durations</a:t>
            </a:r>
          </a:p>
        </p:txBody>
      </p:sp>
      <p:sp>
        <p:nvSpPr>
          <p:cNvPr id="37" name="">
            <a:extLst xmlns:a="http://schemas.openxmlformats.org/drawingml/2006/main">
              <a:ext uri="{FF2B5EF4-FFF2-40B4-BE49-F238E27FC236}">
                <a16:creationId xmlns:a16="http://schemas.microsoft.com/office/drawing/2014/main" id="{A3FCFC1B-C275-4A57-B68C-9582544DC956}"/>
              </a:ext>
            </a:extLst>
          </p:cNvPr>
          <p:cNvSpPr>
            <a:spLocks xmlns:a="http://schemas.openxmlformats.org/drawingml/2006/main" noGrp="1"/>
          </p:cNvSpPr>
          <p:nvPr/>
        </p:nvSpPr>
        <p:spPr>
          <a:xfrm xmlns:a="http://schemas.openxmlformats.org/drawingml/2006/main">
            <a:off x="9810750" y="5105400"/>
            <a:ext cx="1200150" cy="304800"/>
          </a:xfrm>
          <a:prstGeom xmlns:a="http://schemas.openxmlformats.org/drawingml/2006/main" prst="roundRect">
            <a:avLst>
              <a:gd name="adj" fmla="val 37500"/>
            </a:avLst>
          </a:prstGeom>
          <a:solidFill xmlns:a="http://schemas.openxmlformats.org/drawingml/2006/main">
            <a:srgbClr val="18794E"/>
          </a:solidFill>
          <a:ln xmlns:a="http://schemas.openxmlformats.org/drawingml/2006/main" w="0">
            <a:solidFill>
              <a:srgbClr val="18794E"/>
            </a:solidFill>
            <a:prstDash val="solid"/>
          </a:ln>
        </p:spPr>
      </p:sp>
      <p:sp>
        <p:nvSpPr>
          <p:cNvPr id="38" name="">
            <a:extLst xmlns:a="http://schemas.openxmlformats.org/drawingml/2006/main">
              <a:ext uri="{FF2B5EF4-FFF2-40B4-BE49-F238E27FC236}">
                <a16:creationId xmlns:a16="http://schemas.microsoft.com/office/drawing/2014/main" id="{768E40AB-57D1-4753-8118-5ABAA9E97D39}"/>
              </a:ext>
            </a:extLst>
          </p:cNvPr>
          <p:cNvSpPr>
            <a:spLocks xmlns:a="http://schemas.openxmlformats.org/drawingml/2006/main" noGrp="1"/>
          </p:cNvSpPr>
          <p:nvPr/>
        </p:nvSpPr>
        <p:spPr>
          <a:xfrm xmlns:a="http://schemas.openxmlformats.org/drawingml/2006/main">
            <a:off x="9810750" y="51435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PASS</a:t>
            </a:r>
          </a:p>
        </p:txBody>
      </p:sp>
      <p:sp>
        <p:nvSpPr>
          <p:cNvPr id="39" name="">
            <a:extLst xmlns:a="http://schemas.openxmlformats.org/drawingml/2006/main">
              <a:ext uri="{FF2B5EF4-FFF2-40B4-BE49-F238E27FC236}">
                <a16:creationId xmlns:a16="http://schemas.microsoft.com/office/drawing/2014/main" id="{4C7ED962-F403-4D55-8889-56DBAA71C6D3}"/>
              </a:ext>
            </a:extLst>
          </p:cNvPr>
          <p:cNvSpPr>
            <a:spLocks xmlns:a="http://schemas.openxmlformats.org/drawingml/2006/main" noGrp="1"/>
          </p:cNvSpPr>
          <p:nvPr/>
        </p:nvSpPr>
        <p:spPr>
          <a:xfrm xmlns:a="http://schemas.openxmlformats.org/drawingml/2006/main">
            <a:off x="876300" y="5715000"/>
            <a:ext cx="10439400" cy="514350"/>
          </a:xfrm>
          <a:prstGeom xmlns:a="http://schemas.openxmlformats.org/drawingml/2006/main" prst="roundRect">
            <a:avLst>
              <a:gd name="adj" fmla="val 22222"/>
            </a:avLst>
          </a:prstGeom>
          <a:solidFill xmlns:a="http://schemas.openxmlformats.org/drawingml/2006/main">
            <a:srgbClr val="0B1F33"/>
          </a:solidFill>
          <a:ln xmlns:a="http://schemas.openxmlformats.org/drawingml/2006/main" w="0">
            <a:solidFill>
              <a:srgbClr val="0B1F33"/>
            </a:solidFill>
            <a:prstDash val="solid"/>
          </a:ln>
        </p:spPr>
      </p:sp>
      <p:sp>
        <p:nvSpPr>
          <p:cNvPr id="40" name="">
            <a:extLst xmlns:a="http://schemas.openxmlformats.org/drawingml/2006/main">
              <a:ext uri="{FF2B5EF4-FFF2-40B4-BE49-F238E27FC236}">
                <a16:creationId xmlns:a16="http://schemas.microsoft.com/office/drawing/2014/main" id="{C8479FAB-F296-4E43-8A6B-BB773F89EF83}"/>
              </a:ext>
            </a:extLst>
          </p:cNvPr>
          <p:cNvSpPr>
            <a:spLocks xmlns:a="http://schemas.openxmlformats.org/drawingml/2006/main" noGrp="1"/>
          </p:cNvSpPr>
          <p:nvPr/>
        </p:nvSpPr>
        <p:spPr>
          <a:xfrm xmlns:a="http://schemas.openxmlformats.org/drawingml/2006/main">
            <a:off x="1104900" y="58483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7DD3E8"/>
                </a:solidFill>
              </a:defRPr>
            </a:pPr>
            <a:r>
              <a:rPr sz="1425" b="1">
                <a:solidFill>
                  <a:srgbClr val="7DD3E8"/>
                </a:solidFill>
              </a:rPr>
              <a:t>Final bounded claim</a:t>
            </a:r>
          </a:p>
        </p:txBody>
      </p:sp>
      <p:sp>
        <p:nvSpPr>
          <p:cNvPr id="41" name="">
            <a:extLst xmlns:a="http://schemas.openxmlformats.org/drawingml/2006/main">
              <a:ext uri="{FF2B5EF4-FFF2-40B4-BE49-F238E27FC236}">
                <a16:creationId xmlns:a16="http://schemas.microsoft.com/office/drawing/2014/main" id="{C9CBD7C7-48A3-4B4B-9AC0-1FBD4E1997FF}"/>
              </a:ext>
            </a:extLst>
          </p:cNvPr>
          <p:cNvSpPr>
            <a:spLocks xmlns:a="http://schemas.openxmlformats.org/drawingml/2006/main" noGrp="1"/>
          </p:cNvSpPr>
          <p:nvPr/>
        </p:nvSpPr>
        <p:spPr>
          <a:xfrm xmlns:a="http://schemas.openxmlformats.org/drawingml/2006/main">
            <a:off x="3257550" y="5791200"/>
            <a:ext cx="781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75" b="1">
                <a:solidFill>
                  <a:srgbClr val="FFFFFF"/>
                </a:solidFill>
              </a:defRPr>
            </a:pPr>
            <a:r>
              <a:rPr sz="2175" b="1">
                <a:solidFill>
                  <a:srgbClr val="FFFFFF"/>
                </a:solidFill>
              </a:rPr>
              <a:t>Reliable + Controllable Digital Twin MVP</a:t>
            </a:r>
          </a:p>
        </p:txBody>
      </p:sp>
      <p:sp>
        <p:nvSpPr>
          <p:cNvPr id="42" name="">
            <a:extLst xmlns:a="http://schemas.openxmlformats.org/drawingml/2006/main">
              <a:ext uri="{FF2B5EF4-FFF2-40B4-BE49-F238E27FC236}">
                <a16:creationId xmlns:a16="http://schemas.microsoft.com/office/drawing/2014/main" id="{961526E8-0D36-4F06-A0E3-61EC93E899A6}"/>
              </a:ext>
            </a:extLst>
          </p:cNvPr>
          <p:cNvSpPr>
            <a:spLocks xmlns:a="http://schemas.openxmlformats.org/drawingml/2006/main" noGrp="1"/>
          </p:cNvSpPr>
          <p:nvPr/>
        </p:nvSpPr>
        <p:spPr>
          <a:xfrm xmlns:a="http://schemas.openxmlformats.org/drawingml/2006/main">
            <a:off x="647700" y="6438900"/>
            <a:ext cx="10896600" cy="9525"/>
          </a:xfrm>
          <a:prstGeom xmlns:a="http://schemas.openxmlformats.org/drawingml/2006/main" prst="rect">
            <a:avLst/>
          </a:prstGeom>
          <a:solidFill xmlns:a="http://schemas.openxmlformats.org/drawingml/2006/main">
            <a:srgbClr val="D7DEE5"/>
          </a:solidFill>
          <a:ln xmlns:a="http://schemas.openxmlformats.org/drawingml/2006/main" w="0">
            <a:solidFill>
              <a:srgbClr val="D7DEE5"/>
            </a:solidFill>
            <a:prstDash val="solid"/>
          </a:ln>
        </p:spPr>
      </p:sp>
      <p:sp>
        <p:nvSpPr>
          <p:cNvPr id="43" name="">
            <a:extLst xmlns:a="http://schemas.openxmlformats.org/drawingml/2006/main">
              <a:ext uri="{FF2B5EF4-FFF2-40B4-BE49-F238E27FC236}">
                <a16:creationId xmlns:a16="http://schemas.microsoft.com/office/drawing/2014/main" id="{662AE82F-B2D7-4875-969F-0B81DA2E1777}"/>
              </a:ext>
            </a:extLst>
          </p:cNvPr>
          <p:cNvSpPr>
            <a:spLocks xmlns:a="http://schemas.openxmlformats.org/drawingml/2006/main" noGrp="1"/>
          </p:cNvSpPr>
          <p:nvPr/>
        </p:nvSpPr>
        <p:spPr>
          <a:xfrm xmlns:a="http://schemas.openxmlformats.org/drawingml/2006/main">
            <a:off x="647700" y="65151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B6875"/>
                </a:solidFill>
              </a:defRPr>
            </a:pPr>
            <a:r>
              <a:rPr sz="1050" b="0">
                <a:solidFill>
                  <a:srgbClr val="5B6875"/>
                </a:solidFill>
              </a:rPr>
              <a:t>Reliable + Controllable Digital Twin MVP</a:t>
            </a:r>
          </a:p>
        </p:txBody>
      </p:sp>
      <p:sp>
        <p:nvSpPr>
          <p:cNvPr id="44" name="">
            <a:extLst xmlns:a="http://schemas.openxmlformats.org/drawingml/2006/main">
              <a:ext uri="{FF2B5EF4-FFF2-40B4-BE49-F238E27FC236}">
                <a16:creationId xmlns:a16="http://schemas.microsoft.com/office/drawing/2014/main" id="{95239F66-9703-446B-8BDA-FCC900487048}"/>
              </a:ext>
            </a:extLst>
          </p:cNvPr>
          <p:cNvSpPr>
            <a:spLocks xmlns:a="http://schemas.openxmlformats.org/drawingml/2006/main" noGrp="1"/>
          </p:cNvSpPr>
          <p:nvPr/>
        </p:nvSpPr>
        <p:spPr>
          <a:xfrm xmlns:a="http://schemas.openxmlformats.org/drawingml/2006/main">
            <a:off x="11049000" y="65151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B6875"/>
                </a:solidFill>
              </a:defRPr>
            </a:pPr>
            <a:r>
              <a:rPr sz="1050" b="1">
                <a:solidFill>
                  <a:srgbClr val="5B6875"/>
                </a:solidFill>
              </a:rPr>
              <a:t>07</a:t>
            </a:r>
          </a:p>
        </p:txBody>
      </p:sp>
    </p:spTree>
    <p:extLst>
      <p:ext uri="{BB962C8B-B14F-4D97-AF65-F5344CB8AC3E}">
        <p14:creationId xmlns:p14="http://schemas.microsoft.com/office/powerpoint/2010/main" val="12197735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section-label">
            <a:extLst xmlns:a="http://schemas.openxmlformats.org/drawingml/2006/main">
              <a:ext uri="{FF2B5EF4-FFF2-40B4-BE49-F238E27FC236}">
                <a16:creationId xmlns:a16="http://schemas.microsoft.com/office/drawing/2014/main" id="{EDA2E3AF-7DCC-4480-AAB4-E57E7404E2CA}"/>
              </a:ext>
            </a:extLst>
          </p:cNvPr>
          <p:cNvSpPr>
            <a:spLocks xmlns:a="http://schemas.openxmlformats.org/drawingml/2006/main" noGrp="1"/>
          </p:cNvSpPr>
          <p:nvPr/>
        </p:nvSpPr>
        <p:spPr>
          <a:xfrm xmlns:a="http://schemas.openxmlformats.org/drawingml/2006/main">
            <a:off x="647700" y="3238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8794E"/>
                </a:solidFill>
              </a:defRPr>
            </a:pPr>
            <a:r>
              <a:rPr sz="1200" b="1">
                <a:solidFill>
                  <a:srgbClr val="18794E"/>
                </a:solidFill>
              </a:rPr>
              <a:t>DECISION</a:t>
            </a:r>
          </a:p>
        </p:txBody>
      </p:sp>
      <p:sp>
        <p:nvSpPr>
          <p:cNvPr id="2" name="slide-title">
            <a:extLst xmlns:a="http://schemas.openxmlformats.org/drawingml/2006/main">
              <a:ext uri="{FF2B5EF4-FFF2-40B4-BE49-F238E27FC236}">
                <a16:creationId xmlns:a16="http://schemas.microsoft.com/office/drawing/2014/main" id="{8320E9C6-3224-495D-8208-00420FCFC918}"/>
              </a:ext>
            </a:extLst>
          </p:cNvPr>
          <p:cNvSpPr>
            <a:spLocks xmlns:a="http://schemas.openxmlformats.org/drawingml/2006/main" noGrp="1"/>
          </p:cNvSpPr>
          <p:nvPr/>
        </p:nvSpPr>
        <p:spPr>
          <a:xfrm xmlns:a="http://schemas.openxmlformats.org/drawingml/2006/main">
            <a:off x="647700" y="647700"/>
            <a:ext cx="10896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0B1F33"/>
                </a:solidFill>
              </a:defRPr>
            </a:pPr>
            <a:r>
              <a:rPr sz="3300" b="1">
                <a:solidFill>
                  <a:srgbClr val="0B1F33"/>
                </a:solidFill>
              </a:rPr>
              <a:t>Advisor decision: close Part II at the bounded MVP level?</a:t>
            </a:r>
          </a:p>
        </p:txBody>
      </p:sp>
      <p:sp>
        <p:nvSpPr>
          <p:cNvPr id="3" name="">
            <a:extLst xmlns:a="http://schemas.openxmlformats.org/drawingml/2006/main">
              <a:ext uri="{FF2B5EF4-FFF2-40B4-BE49-F238E27FC236}">
                <a16:creationId xmlns:a16="http://schemas.microsoft.com/office/drawing/2014/main" id="{F6672F0C-E324-4F77-98E5-D68FAB90C42B}"/>
              </a:ext>
            </a:extLst>
          </p:cNvPr>
          <p:cNvSpPr>
            <a:spLocks xmlns:a="http://schemas.openxmlformats.org/drawingml/2006/main" noGrp="1"/>
          </p:cNvSpPr>
          <p:nvPr/>
        </p:nvSpPr>
        <p:spPr>
          <a:xfrm xmlns:a="http://schemas.openxmlformats.org/drawingml/2006/main">
            <a:off x="647700" y="1304925"/>
            <a:ext cx="10896600" cy="19050"/>
          </a:xfrm>
          <a:prstGeom xmlns:a="http://schemas.openxmlformats.org/drawingml/2006/main" prst="rect">
            <a:avLst/>
          </a:prstGeom>
          <a:solidFill xmlns:a="http://schemas.openxmlformats.org/drawingml/2006/main">
            <a:srgbClr val="D7DEE5"/>
          </a:solidFill>
          <a:ln xmlns:a="http://schemas.openxmlformats.org/drawingml/2006/main" w="0">
            <a:solidFill>
              <a:srgbClr val="D7DEE5"/>
            </a:solidFill>
            <a:prstDash val="solid"/>
          </a:ln>
        </p:spPr>
      </p:sp>
      <p:sp>
        <p:nvSpPr>
          <p:cNvPr id="4" name="">
            <a:extLst xmlns:a="http://schemas.openxmlformats.org/drawingml/2006/main">
              <a:ext uri="{FF2B5EF4-FFF2-40B4-BE49-F238E27FC236}">
                <a16:creationId xmlns:a16="http://schemas.microsoft.com/office/drawing/2014/main" id="{B2E28B4A-4448-4EE5-88B6-34E99FAC4DE9}"/>
              </a:ext>
            </a:extLst>
          </p:cNvPr>
          <p:cNvSpPr>
            <a:spLocks xmlns:a="http://schemas.openxmlformats.org/drawingml/2006/main" noGrp="1"/>
          </p:cNvSpPr>
          <p:nvPr/>
        </p:nvSpPr>
        <p:spPr>
          <a:xfrm xmlns:a="http://schemas.openxmlformats.org/drawingml/2006/main">
            <a:off x="723900" y="16764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8794E"/>
                </a:solidFill>
              </a:defRPr>
            </a:pPr>
            <a:r>
              <a:rPr sz="2100" b="1">
                <a:solidFill>
                  <a:srgbClr val="18794E"/>
                </a:solidFill>
              </a:rPr>
              <a:t>Evidence supporting closure</a:t>
            </a:r>
          </a:p>
        </p:txBody>
      </p:sp>
      <p:sp>
        <p:nvSpPr>
          <p:cNvPr id="5" name="">
            <a:extLst xmlns:a="http://schemas.openxmlformats.org/drawingml/2006/main">
              <a:ext uri="{FF2B5EF4-FFF2-40B4-BE49-F238E27FC236}">
                <a16:creationId xmlns:a16="http://schemas.microsoft.com/office/drawing/2014/main" id="{0507CBA8-7D41-4DAD-BB88-FC92F21F7F77}"/>
              </a:ext>
            </a:extLst>
          </p:cNvPr>
          <p:cNvSpPr>
            <a:spLocks xmlns:a="http://schemas.openxmlformats.org/drawingml/2006/main" noGrp="1"/>
          </p:cNvSpPr>
          <p:nvPr/>
        </p:nvSpPr>
        <p:spPr>
          <a:xfrm xmlns:a="http://schemas.openxmlformats.org/drawingml/2006/main">
            <a:off x="723900" y="2114550"/>
            <a:ext cx="4762500" cy="38100"/>
          </a:xfrm>
          <a:prstGeom xmlns:a="http://schemas.openxmlformats.org/drawingml/2006/main" prst="rect">
            <a:avLst/>
          </a:prstGeom>
          <a:solidFill xmlns:a="http://schemas.openxmlformats.org/drawingml/2006/main">
            <a:srgbClr val="18794E"/>
          </a:solidFill>
          <a:ln xmlns:a="http://schemas.openxmlformats.org/drawingml/2006/main" w="0">
            <a:solidFill>
              <a:srgbClr val="18794E"/>
            </a:solidFill>
            <a:prstDash val="solid"/>
          </a:ln>
        </p:spPr>
      </p:sp>
      <p:sp>
        <p:nvSpPr>
          <p:cNvPr id="6" name="">
            <a:extLst xmlns:a="http://schemas.openxmlformats.org/drawingml/2006/main">
              <a:ext uri="{FF2B5EF4-FFF2-40B4-BE49-F238E27FC236}">
                <a16:creationId xmlns:a16="http://schemas.microsoft.com/office/drawing/2014/main" id="{AC2F6CE9-762C-4E85-9C7B-87909F20C3E2}"/>
              </a:ext>
            </a:extLst>
          </p:cNvPr>
          <p:cNvSpPr>
            <a:spLocks xmlns:a="http://schemas.openxmlformats.org/drawingml/2006/main" noGrp="1"/>
          </p:cNvSpPr>
          <p:nvPr/>
        </p:nvSpPr>
        <p:spPr>
          <a:xfrm xmlns:a="http://schemas.openxmlformats.org/drawingml/2006/main">
            <a:off x="742950" y="2438400"/>
            <a:ext cx="85725" cy="85725"/>
          </a:xfrm>
          <a:prstGeom xmlns:a="http://schemas.openxmlformats.org/drawingml/2006/main" prst="ellipse">
            <a:avLst/>
          </a:prstGeom>
          <a:solidFill xmlns:a="http://schemas.openxmlformats.org/drawingml/2006/main">
            <a:srgbClr val="18794E"/>
          </a:solidFill>
          <a:ln xmlns:a="http://schemas.openxmlformats.org/drawingml/2006/main" w="0">
            <a:solidFill>
              <a:srgbClr val="18794E"/>
            </a:solidFill>
            <a:prstDash val="solid"/>
          </a:ln>
        </p:spPr>
      </p:sp>
      <p:sp>
        <p:nvSpPr>
          <p:cNvPr id="7" name="">
            <a:extLst xmlns:a="http://schemas.openxmlformats.org/drawingml/2006/main">
              <a:ext uri="{FF2B5EF4-FFF2-40B4-BE49-F238E27FC236}">
                <a16:creationId xmlns:a16="http://schemas.microsoft.com/office/drawing/2014/main" id="{4E7DB8BD-60BE-474D-8928-7F94D72E20F3}"/>
              </a:ext>
            </a:extLst>
          </p:cNvPr>
          <p:cNvSpPr>
            <a:spLocks xmlns:a="http://schemas.openxmlformats.org/drawingml/2006/main" noGrp="1"/>
          </p:cNvSpPr>
          <p:nvPr/>
        </p:nvSpPr>
        <p:spPr>
          <a:xfrm xmlns:a="http://schemas.openxmlformats.org/drawingml/2006/main">
            <a:off x="952500" y="236220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7212B"/>
                </a:solidFill>
              </a:defRPr>
            </a:pPr>
            <a:r>
              <a:rPr sz="1575" b="0">
                <a:solidFill>
                  <a:srgbClr val="17212B"/>
                </a:solidFill>
              </a:rPr>
              <a:t>C006 selected by a frozen rule and held-out advantage</a:t>
            </a:r>
          </a:p>
        </p:txBody>
      </p:sp>
      <p:sp>
        <p:nvSpPr>
          <p:cNvPr id="8" name="">
            <a:extLst xmlns:a="http://schemas.openxmlformats.org/drawingml/2006/main">
              <a:ext uri="{FF2B5EF4-FFF2-40B4-BE49-F238E27FC236}">
                <a16:creationId xmlns:a16="http://schemas.microsoft.com/office/drawing/2014/main" id="{526BDBC6-E0A0-4F50-A76E-FC6FFC93A146}"/>
              </a:ext>
            </a:extLst>
          </p:cNvPr>
          <p:cNvSpPr>
            <a:spLocks xmlns:a="http://schemas.openxmlformats.org/drawingml/2006/main" noGrp="1"/>
          </p:cNvSpPr>
          <p:nvPr/>
        </p:nvSpPr>
        <p:spPr>
          <a:xfrm xmlns:a="http://schemas.openxmlformats.org/drawingml/2006/main">
            <a:off x="742950" y="3028950"/>
            <a:ext cx="85725" cy="85725"/>
          </a:xfrm>
          <a:prstGeom xmlns:a="http://schemas.openxmlformats.org/drawingml/2006/main" prst="ellipse">
            <a:avLst/>
          </a:prstGeom>
          <a:solidFill xmlns:a="http://schemas.openxmlformats.org/drawingml/2006/main">
            <a:srgbClr val="18794E"/>
          </a:solidFill>
          <a:ln xmlns:a="http://schemas.openxmlformats.org/drawingml/2006/main" w="0">
            <a:solidFill>
              <a:srgbClr val="18794E"/>
            </a:solidFill>
            <a:prstDash val="solid"/>
          </a:ln>
        </p:spPr>
      </p:sp>
      <p:sp>
        <p:nvSpPr>
          <p:cNvPr id="9" name="">
            <a:extLst xmlns:a="http://schemas.openxmlformats.org/drawingml/2006/main">
              <a:ext uri="{FF2B5EF4-FFF2-40B4-BE49-F238E27FC236}">
                <a16:creationId xmlns:a16="http://schemas.microsoft.com/office/drawing/2014/main" id="{0A1C98BE-5C94-4EB3-BCB3-D69186F6A0A5}"/>
              </a:ext>
            </a:extLst>
          </p:cNvPr>
          <p:cNvSpPr>
            <a:spLocks xmlns:a="http://schemas.openxmlformats.org/drawingml/2006/main" noGrp="1"/>
          </p:cNvSpPr>
          <p:nvPr/>
        </p:nvSpPr>
        <p:spPr>
          <a:xfrm xmlns:a="http://schemas.openxmlformats.org/drawingml/2006/main">
            <a:off x="952500" y="295275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7212B"/>
                </a:solidFill>
              </a:defRPr>
            </a:pPr>
            <a:r>
              <a:rPr sz="1575" b="0">
                <a:solidFill>
                  <a:srgbClr val="17212B"/>
                </a:solidFill>
              </a:rPr>
              <a:t>Protocol, model, and selection identities retained in C1</a:t>
            </a:r>
          </a:p>
        </p:txBody>
      </p:sp>
      <p:sp>
        <p:nvSpPr>
          <p:cNvPr id="10" name="">
            <a:extLst xmlns:a="http://schemas.openxmlformats.org/drawingml/2006/main">
              <a:ext uri="{FF2B5EF4-FFF2-40B4-BE49-F238E27FC236}">
                <a16:creationId xmlns:a16="http://schemas.microsoft.com/office/drawing/2014/main" id="{52487111-BF69-4648-BE7A-59FA3DAA3B01}"/>
              </a:ext>
            </a:extLst>
          </p:cNvPr>
          <p:cNvSpPr>
            <a:spLocks xmlns:a="http://schemas.openxmlformats.org/drawingml/2006/main" noGrp="1"/>
          </p:cNvSpPr>
          <p:nvPr/>
        </p:nvSpPr>
        <p:spPr>
          <a:xfrm xmlns:a="http://schemas.openxmlformats.org/drawingml/2006/main">
            <a:off x="742950" y="3619500"/>
            <a:ext cx="85725" cy="85725"/>
          </a:xfrm>
          <a:prstGeom xmlns:a="http://schemas.openxmlformats.org/drawingml/2006/main" prst="ellipse">
            <a:avLst/>
          </a:prstGeom>
          <a:solidFill xmlns:a="http://schemas.openxmlformats.org/drawingml/2006/main">
            <a:srgbClr val="18794E"/>
          </a:solidFill>
          <a:ln xmlns:a="http://schemas.openxmlformats.org/drawingml/2006/main" w="0">
            <a:solidFill>
              <a:srgbClr val="18794E"/>
            </a:solidFill>
            <a:prstDash val="solid"/>
          </a:ln>
        </p:spPr>
      </p:sp>
      <p:sp>
        <p:nvSpPr>
          <p:cNvPr id="11" name="">
            <a:extLst xmlns:a="http://schemas.openxmlformats.org/drawingml/2006/main">
              <a:ext uri="{FF2B5EF4-FFF2-40B4-BE49-F238E27FC236}">
                <a16:creationId xmlns:a16="http://schemas.microsoft.com/office/drawing/2014/main" id="{21003E3F-528B-49B6-B9D0-32D77CA2DCE7}"/>
              </a:ext>
            </a:extLst>
          </p:cNvPr>
          <p:cNvSpPr>
            <a:spLocks xmlns:a="http://schemas.openxmlformats.org/drawingml/2006/main" noGrp="1"/>
          </p:cNvSpPr>
          <p:nvPr/>
        </p:nvSpPr>
        <p:spPr>
          <a:xfrm xmlns:a="http://schemas.openxmlformats.org/drawingml/2006/main">
            <a:off x="952500" y="354330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7212B"/>
                </a:solidFill>
              </a:defRPr>
            </a:pPr>
            <a:r>
              <a:rPr sz="1575" b="0">
                <a:solidFill>
                  <a:srgbClr val="17212B"/>
                </a:solidFill>
              </a:rPr>
              <a:t>T2 positive 3/3 across fresh seeds at 220 s and 910 s</a:t>
            </a:r>
          </a:p>
        </p:txBody>
      </p:sp>
      <p:sp>
        <p:nvSpPr>
          <p:cNvPr id="12" name="">
            <a:extLst xmlns:a="http://schemas.openxmlformats.org/drawingml/2006/main">
              <a:ext uri="{FF2B5EF4-FFF2-40B4-BE49-F238E27FC236}">
                <a16:creationId xmlns:a16="http://schemas.microsoft.com/office/drawing/2014/main" id="{1AB01ED4-CC02-4D40-8B5F-41D150076221}"/>
              </a:ext>
            </a:extLst>
          </p:cNvPr>
          <p:cNvSpPr>
            <a:spLocks xmlns:a="http://schemas.openxmlformats.org/drawingml/2006/main" noGrp="1"/>
          </p:cNvSpPr>
          <p:nvPr/>
        </p:nvSpPr>
        <p:spPr>
          <a:xfrm xmlns:a="http://schemas.openxmlformats.org/drawingml/2006/main">
            <a:off x="742950" y="4210050"/>
            <a:ext cx="85725" cy="85725"/>
          </a:xfrm>
          <a:prstGeom xmlns:a="http://schemas.openxmlformats.org/drawingml/2006/main" prst="ellipse">
            <a:avLst/>
          </a:prstGeom>
          <a:solidFill xmlns:a="http://schemas.openxmlformats.org/drawingml/2006/main">
            <a:srgbClr val="18794E"/>
          </a:solidFill>
          <a:ln xmlns:a="http://schemas.openxmlformats.org/drawingml/2006/main" w="0">
            <a:solidFill>
              <a:srgbClr val="18794E"/>
            </a:solidFill>
            <a:prstDash val="solid"/>
          </a:ln>
        </p:spPr>
      </p:sp>
      <p:sp>
        <p:nvSpPr>
          <p:cNvPr id="13" name="">
            <a:extLst xmlns:a="http://schemas.openxmlformats.org/drawingml/2006/main">
              <a:ext uri="{FF2B5EF4-FFF2-40B4-BE49-F238E27FC236}">
                <a16:creationId xmlns:a16="http://schemas.microsoft.com/office/drawing/2014/main" id="{8F9939D6-3962-40B4-9078-35E4243EEC72}"/>
              </a:ext>
            </a:extLst>
          </p:cNvPr>
          <p:cNvSpPr>
            <a:spLocks xmlns:a="http://schemas.openxmlformats.org/drawingml/2006/main" noGrp="1"/>
          </p:cNvSpPr>
          <p:nvPr/>
        </p:nvSpPr>
        <p:spPr>
          <a:xfrm xmlns:a="http://schemas.openxmlformats.org/drawingml/2006/main">
            <a:off x="952500" y="413385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7212B"/>
                </a:solidFill>
              </a:defRPr>
            </a:pPr>
            <a:r>
              <a:rPr sz="1575" b="0">
                <a:solidFill>
                  <a:srgbClr val="17212B"/>
                </a:solidFill>
              </a:rPr>
              <a:t>Causal bounded F01 and integrity PASS 6/6</a:t>
            </a:r>
          </a:p>
        </p:txBody>
      </p:sp>
      <p:sp>
        <p:nvSpPr>
          <p:cNvPr id="14" name="">
            <a:extLst xmlns:a="http://schemas.openxmlformats.org/drawingml/2006/main">
              <a:ext uri="{FF2B5EF4-FFF2-40B4-BE49-F238E27FC236}">
                <a16:creationId xmlns:a16="http://schemas.microsoft.com/office/drawing/2014/main" id="{D890A86E-2E18-40FD-9A97-BDD99AC43811}"/>
              </a:ext>
            </a:extLst>
          </p:cNvPr>
          <p:cNvSpPr>
            <a:spLocks xmlns:a="http://schemas.openxmlformats.org/drawingml/2006/main" noGrp="1"/>
          </p:cNvSpPr>
          <p:nvPr/>
        </p:nvSpPr>
        <p:spPr>
          <a:xfrm xmlns:a="http://schemas.openxmlformats.org/drawingml/2006/main">
            <a:off x="742950" y="4800600"/>
            <a:ext cx="85725" cy="85725"/>
          </a:xfrm>
          <a:prstGeom xmlns:a="http://schemas.openxmlformats.org/drawingml/2006/main" prst="ellipse">
            <a:avLst/>
          </a:prstGeom>
          <a:solidFill xmlns:a="http://schemas.openxmlformats.org/drawingml/2006/main">
            <a:srgbClr val="18794E"/>
          </a:solidFill>
          <a:ln xmlns:a="http://schemas.openxmlformats.org/drawingml/2006/main" w="0">
            <a:solidFill>
              <a:srgbClr val="18794E"/>
            </a:solidFill>
            <a:prstDash val="solid"/>
          </a:ln>
        </p:spPr>
      </p:sp>
      <p:sp>
        <p:nvSpPr>
          <p:cNvPr id="15" name="">
            <a:extLst xmlns:a="http://schemas.openxmlformats.org/drawingml/2006/main">
              <a:ext uri="{FF2B5EF4-FFF2-40B4-BE49-F238E27FC236}">
                <a16:creationId xmlns:a16="http://schemas.microsoft.com/office/drawing/2014/main" id="{05954987-10C1-4A83-8473-E58C5684E3C4}"/>
              </a:ext>
            </a:extLst>
          </p:cNvPr>
          <p:cNvSpPr>
            <a:spLocks xmlns:a="http://schemas.openxmlformats.org/drawingml/2006/main" noGrp="1"/>
          </p:cNvSpPr>
          <p:nvPr/>
        </p:nvSpPr>
        <p:spPr>
          <a:xfrm xmlns:a="http://schemas.openxmlformats.org/drawingml/2006/main">
            <a:off x="952500" y="472440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7212B"/>
                </a:solidFill>
              </a:defRPr>
            </a:pPr>
            <a:r>
              <a:rPr sz="1575" b="0">
                <a:solidFill>
                  <a:srgbClr val="17212B"/>
                </a:solidFill>
              </a:rPr>
              <a:t>I_SO independently supportive at both durations</a:t>
            </a:r>
          </a:p>
        </p:txBody>
      </p:sp>
      <p:sp>
        <p:nvSpPr>
          <p:cNvPr id="16" name="">
            <a:extLst xmlns:a="http://schemas.openxmlformats.org/drawingml/2006/main">
              <a:ext uri="{FF2B5EF4-FFF2-40B4-BE49-F238E27FC236}">
                <a16:creationId xmlns:a16="http://schemas.microsoft.com/office/drawing/2014/main" id="{91276749-45AF-477F-A299-0DD06F7DC359}"/>
              </a:ext>
            </a:extLst>
          </p:cNvPr>
          <p:cNvSpPr>
            <a:spLocks xmlns:a="http://schemas.openxmlformats.org/drawingml/2006/main" noGrp="1"/>
          </p:cNvSpPr>
          <p:nvPr/>
        </p:nvSpPr>
        <p:spPr>
          <a:xfrm xmlns:a="http://schemas.openxmlformats.org/drawingml/2006/main">
            <a:off x="6705600" y="16764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B42318"/>
                </a:solidFill>
              </a:defRPr>
            </a:pPr>
            <a:r>
              <a:rPr sz="2100" b="1">
                <a:solidFill>
                  <a:srgbClr val="B42318"/>
                </a:solidFill>
              </a:rPr>
              <a:t>Limitations that remain</a:t>
            </a:r>
          </a:p>
        </p:txBody>
      </p:sp>
      <p:sp>
        <p:nvSpPr>
          <p:cNvPr id="17" name="">
            <a:extLst xmlns:a="http://schemas.openxmlformats.org/drawingml/2006/main">
              <a:ext uri="{FF2B5EF4-FFF2-40B4-BE49-F238E27FC236}">
                <a16:creationId xmlns:a16="http://schemas.microsoft.com/office/drawing/2014/main" id="{5C9FBE8D-DED1-4E88-951C-413359C9C9D5}"/>
              </a:ext>
            </a:extLst>
          </p:cNvPr>
          <p:cNvSpPr>
            <a:spLocks xmlns:a="http://schemas.openxmlformats.org/drawingml/2006/main" noGrp="1"/>
          </p:cNvSpPr>
          <p:nvPr/>
        </p:nvSpPr>
        <p:spPr>
          <a:xfrm xmlns:a="http://schemas.openxmlformats.org/drawingml/2006/main">
            <a:off x="6705600" y="2114550"/>
            <a:ext cx="4762500" cy="38100"/>
          </a:xfrm>
          <a:prstGeom xmlns:a="http://schemas.openxmlformats.org/drawingml/2006/main" prst="rect">
            <a:avLst/>
          </a:prstGeom>
          <a:solidFill xmlns:a="http://schemas.openxmlformats.org/drawingml/2006/main">
            <a:srgbClr val="B42318"/>
          </a:solidFill>
          <a:ln xmlns:a="http://schemas.openxmlformats.org/drawingml/2006/main" w="0">
            <a:solidFill>
              <a:srgbClr val="B42318"/>
            </a:solidFill>
            <a:prstDash val="solid"/>
          </a:ln>
        </p:spPr>
      </p:sp>
      <p:sp>
        <p:nvSpPr>
          <p:cNvPr id="18" name="">
            <a:extLst xmlns:a="http://schemas.openxmlformats.org/drawingml/2006/main">
              <a:ext uri="{FF2B5EF4-FFF2-40B4-BE49-F238E27FC236}">
                <a16:creationId xmlns:a16="http://schemas.microsoft.com/office/drawing/2014/main" id="{B70A5E2B-7455-48FD-BBAF-BCD5CF162356}"/>
              </a:ext>
            </a:extLst>
          </p:cNvPr>
          <p:cNvSpPr>
            <a:spLocks xmlns:a="http://schemas.openxmlformats.org/drawingml/2006/main" noGrp="1"/>
          </p:cNvSpPr>
          <p:nvPr/>
        </p:nvSpPr>
        <p:spPr>
          <a:xfrm xmlns:a="http://schemas.openxmlformats.org/drawingml/2006/main">
            <a:off x="6724650" y="2438400"/>
            <a:ext cx="85725" cy="85725"/>
          </a:xfrm>
          <a:prstGeom xmlns:a="http://schemas.openxmlformats.org/drawingml/2006/main" prst="ellipse">
            <a:avLst/>
          </a:prstGeom>
          <a:solidFill xmlns:a="http://schemas.openxmlformats.org/drawingml/2006/main">
            <a:srgbClr val="B42318"/>
          </a:solidFill>
          <a:ln xmlns:a="http://schemas.openxmlformats.org/drawingml/2006/main" w="0">
            <a:solidFill>
              <a:srgbClr val="B42318"/>
            </a:solidFill>
            <a:prstDash val="solid"/>
          </a:ln>
        </p:spPr>
      </p:sp>
      <p:sp>
        <p:nvSpPr>
          <p:cNvPr id="19" name="">
            <a:extLst xmlns:a="http://schemas.openxmlformats.org/drawingml/2006/main">
              <a:ext uri="{FF2B5EF4-FFF2-40B4-BE49-F238E27FC236}">
                <a16:creationId xmlns:a16="http://schemas.microsoft.com/office/drawing/2014/main" id="{049D8F90-2C8B-4B2A-9FE9-C33436DB78C9}"/>
              </a:ext>
            </a:extLst>
          </p:cNvPr>
          <p:cNvSpPr>
            <a:spLocks xmlns:a="http://schemas.openxmlformats.org/drawingml/2006/main" noGrp="1"/>
          </p:cNvSpPr>
          <p:nvPr/>
        </p:nvSpPr>
        <p:spPr>
          <a:xfrm xmlns:a="http://schemas.openxmlformats.org/drawingml/2006/main">
            <a:off x="6934200" y="236220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7212B"/>
                </a:solidFill>
              </a:defRPr>
            </a:pPr>
            <a:r>
              <a:rPr sz="1575" b="0">
                <a:solidFill>
                  <a:srgbClr val="17212B"/>
                </a:solidFill>
              </a:rPr>
              <a:t>I_SP adverse in every fresh run</a:t>
            </a:r>
          </a:p>
        </p:txBody>
      </p:sp>
      <p:sp>
        <p:nvSpPr>
          <p:cNvPr id="20" name="">
            <a:extLst xmlns:a="http://schemas.openxmlformats.org/drawingml/2006/main">
              <a:ext uri="{FF2B5EF4-FFF2-40B4-BE49-F238E27FC236}">
                <a16:creationId xmlns:a16="http://schemas.microsoft.com/office/drawing/2014/main" id="{1B1FD4EA-81C7-4DD5-A803-CEBC1FEC75A3}"/>
              </a:ext>
            </a:extLst>
          </p:cNvPr>
          <p:cNvSpPr>
            <a:spLocks xmlns:a="http://schemas.openxmlformats.org/drawingml/2006/main" noGrp="1"/>
          </p:cNvSpPr>
          <p:nvPr/>
        </p:nvSpPr>
        <p:spPr>
          <a:xfrm xmlns:a="http://schemas.openxmlformats.org/drawingml/2006/main">
            <a:off x="6724650" y="2990850"/>
            <a:ext cx="85725" cy="85725"/>
          </a:xfrm>
          <a:prstGeom xmlns:a="http://schemas.openxmlformats.org/drawingml/2006/main" prst="ellipse">
            <a:avLst/>
          </a:prstGeom>
          <a:solidFill xmlns:a="http://schemas.openxmlformats.org/drawingml/2006/main">
            <a:srgbClr val="B42318"/>
          </a:solidFill>
          <a:ln xmlns:a="http://schemas.openxmlformats.org/drawingml/2006/main" w="0">
            <a:solidFill>
              <a:srgbClr val="B42318"/>
            </a:solidFill>
            <a:prstDash val="solid"/>
          </a:ln>
        </p:spPr>
      </p:sp>
      <p:sp>
        <p:nvSpPr>
          <p:cNvPr id="21" name="">
            <a:extLst xmlns:a="http://schemas.openxmlformats.org/drawingml/2006/main">
              <a:ext uri="{FF2B5EF4-FFF2-40B4-BE49-F238E27FC236}">
                <a16:creationId xmlns:a16="http://schemas.microsoft.com/office/drawing/2014/main" id="{27A66851-EF15-45A8-A3D9-AC74B24F3F4F}"/>
              </a:ext>
            </a:extLst>
          </p:cNvPr>
          <p:cNvSpPr>
            <a:spLocks xmlns:a="http://schemas.openxmlformats.org/drawingml/2006/main" noGrp="1"/>
          </p:cNvSpPr>
          <p:nvPr/>
        </p:nvSpPr>
        <p:spPr>
          <a:xfrm xmlns:a="http://schemas.openxmlformats.org/drawingml/2006/main">
            <a:off x="6934200" y="29146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7212B"/>
                </a:solidFill>
              </a:defRPr>
            </a:pPr>
            <a:r>
              <a:rPr sz="1575" b="0">
                <a:solidFill>
                  <a:srgbClr val="17212B"/>
                </a:solidFill>
              </a:rPr>
              <a:t>T6 mixed with slightly negative medians</a:t>
            </a:r>
          </a:p>
        </p:txBody>
      </p:sp>
      <p:sp>
        <p:nvSpPr>
          <p:cNvPr id="22" name="">
            <a:extLst xmlns:a="http://schemas.openxmlformats.org/drawingml/2006/main">
              <a:ext uri="{FF2B5EF4-FFF2-40B4-BE49-F238E27FC236}">
                <a16:creationId xmlns:a16="http://schemas.microsoft.com/office/drawing/2014/main" id="{196AB0C1-7726-4564-AC4A-E98AA85D7799}"/>
              </a:ext>
            </a:extLst>
          </p:cNvPr>
          <p:cNvSpPr>
            <a:spLocks xmlns:a="http://schemas.openxmlformats.org/drawingml/2006/main" noGrp="1"/>
          </p:cNvSpPr>
          <p:nvPr/>
        </p:nvSpPr>
        <p:spPr>
          <a:xfrm xmlns:a="http://schemas.openxmlformats.org/drawingml/2006/main">
            <a:off x="6724650" y="3543300"/>
            <a:ext cx="85725" cy="85725"/>
          </a:xfrm>
          <a:prstGeom xmlns:a="http://schemas.openxmlformats.org/drawingml/2006/main" prst="ellipse">
            <a:avLst/>
          </a:prstGeom>
          <a:solidFill xmlns:a="http://schemas.openxmlformats.org/drawingml/2006/main">
            <a:srgbClr val="B42318"/>
          </a:solidFill>
          <a:ln xmlns:a="http://schemas.openxmlformats.org/drawingml/2006/main" w="0">
            <a:solidFill>
              <a:srgbClr val="B42318"/>
            </a:solidFill>
            <a:prstDash val="solid"/>
          </a:ln>
        </p:spPr>
      </p:sp>
      <p:sp>
        <p:nvSpPr>
          <p:cNvPr id="23" name="">
            <a:extLst xmlns:a="http://schemas.openxmlformats.org/drawingml/2006/main">
              <a:ext uri="{FF2B5EF4-FFF2-40B4-BE49-F238E27FC236}">
                <a16:creationId xmlns:a16="http://schemas.microsoft.com/office/drawing/2014/main" id="{BB5B6569-543D-4FEC-A8C7-BE801DBA6C48}"/>
              </a:ext>
            </a:extLst>
          </p:cNvPr>
          <p:cNvSpPr>
            <a:spLocks xmlns:a="http://schemas.openxmlformats.org/drawingml/2006/main" noGrp="1"/>
          </p:cNvSpPr>
          <p:nvPr/>
        </p:nvSpPr>
        <p:spPr>
          <a:xfrm xmlns:a="http://schemas.openxmlformats.org/drawingml/2006/main">
            <a:off x="6934200" y="346710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7212B"/>
                </a:solidFill>
              </a:defRPr>
            </a:pPr>
            <a:r>
              <a:rPr sz="1575" b="0">
                <a:solidFill>
                  <a:srgbClr val="17212B"/>
                </a:solidFill>
              </a:rPr>
              <a:t>One-subject Night-1, proxy-level M1 scope</a:t>
            </a:r>
          </a:p>
        </p:txBody>
      </p:sp>
      <p:sp>
        <p:nvSpPr>
          <p:cNvPr id="24" name="">
            <a:extLst xmlns:a="http://schemas.openxmlformats.org/drawingml/2006/main">
              <a:ext uri="{FF2B5EF4-FFF2-40B4-BE49-F238E27FC236}">
                <a16:creationId xmlns:a16="http://schemas.microsoft.com/office/drawing/2014/main" id="{95B1093C-66D2-4E7D-B4FF-0ACCA1F36546}"/>
              </a:ext>
            </a:extLst>
          </p:cNvPr>
          <p:cNvSpPr>
            <a:spLocks xmlns:a="http://schemas.openxmlformats.org/drawingml/2006/main" noGrp="1"/>
          </p:cNvSpPr>
          <p:nvPr/>
        </p:nvSpPr>
        <p:spPr>
          <a:xfrm xmlns:a="http://schemas.openxmlformats.org/drawingml/2006/main">
            <a:off x="6724650" y="4095750"/>
            <a:ext cx="85725" cy="85725"/>
          </a:xfrm>
          <a:prstGeom xmlns:a="http://schemas.openxmlformats.org/drawingml/2006/main" prst="ellipse">
            <a:avLst/>
          </a:prstGeom>
          <a:solidFill xmlns:a="http://schemas.openxmlformats.org/drawingml/2006/main">
            <a:srgbClr val="B42318"/>
          </a:solidFill>
          <a:ln xmlns:a="http://schemas.openxmlformats.org/drawingml/2006/main" w="0">
            <a:solidFill>
              <a:srgbClr val="B42318"/>
            </a:solidFill>
            <a:prstDash val="solid"/>
          </a:ln>
        </p:spPr>
      </p:sp>
      <p:sp>
        <p:nvSpPr>
          <p:cNvPr id="25" name="">
            <a:extLst xmlns:a="http://schemas.openxmlformats.org/drawingml/2006/main">
              <a:ext uri="{FF2B5EF4-FFF2-40B4-BE49-F238E27FC236}">
                <a16:creationId xmlns:a16="http://schemas.microsoft.com/office/drawing/2014/main" id="{7EBE2C33-92CB-40AA-9876-37D8EE1EB86C}"/>
              </a:ext>
            </a:extLst>
          </p:cNvPr>
          <p:cNvSpPr>
            <a:spLocks xmlns:a="http://schemas.openxmlformats.org/drawingml/2006/main" noGrp="1"/>
          </p:cNvSpPr>
          <p:nvPr/>
        </p:nvSpPr>
        <p:spPr>
          <a:xfrm xmlns:a="http://schemas.openxmlformats.org/drawingml/2006/main">
            <a:off x="6934200" y="4019550"/>
            <a:ext cx="4533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7212B"/>
                </a:solidFill>
              </a:defRPr>
            </a:pPr>
            <a:r>
              <a:rPr sz="1575" b="0">
                <a:solidFill>
                  <a:srgbClr val="17212B"/>
                </a:solidFill>
              </a:rPr>
              <a:t>No clinical, population, global, or all-endpoint claim</a:t>
            </a:r>
          </a:p>
        </p:txBody>
      </p:sp>
      <p:sp>
        <p:nvSpPr>
          <p:cNvPr id="26" name="">
            <a:extLst xmlns:a="http://schemas.openxmlformats.org/drawingml/2006/main">
              <a:ext uri="{FF2B5EF4-FFF2-40B4-BE49-F238E27FC236}">
                <a16:creationId xmlns:a16="http://schemas.microsoft.com/office/drawing/2014/main" id="{21C2B8B9-79EA-4A73-9F33-42F7D15D04F0}"/>
              </a:ext>
            </a:extLst>
          </p:cNvPr>
          <p:cNvSpPr>
            <a:spLocks xmlns:a="http://schemas.openxmlformats.org/drawingml/2006/main" noGrp="1"/>
          </p:cNvSpPr>
          <p:nvPr/>
        </p:nvSpPr>
        <p:spPr>
          <a:xfrm xmlns:a="http://schemas.openxmlformats.org/drawingml/2006/main">
            <a:off x="6724650" y="4762500"/>
            <a:ext cx="85725" cy="85725"/>
          </a:xfrm>
          <a:prstGeom xmlns:a="http://schemas.openxmlformats.org/drawingml/2006/main" prst="ellipse">
            <a:avLst/>
          </a:prstGeom>
          <a:solidFill xmlns:a="http://schemas.openxmlformats.org/drawingml/2006/main">
            <a:srgbClr val="C56A09"/>
          </a:solidFill>
          <a:ln xmlns:a="http://schemas.openxmlformats.org/drawingml/2006/main" w="0">
            <a:solidFill>
              <a:srgbClr val="C56A09"/>
            </a:solidFill>
            <a:prstDash val="solid"/>
          </a:ln>
        </p:spPr>
      </p:sp>
      <p:sp>
        <p:nvSpPr>
          <p:cNvPr id="27" name="">
            <a:extLst xmlns:a="http://schemas.openxmlformats.org/drawingml/2006/main">
              <a:ext uri="{FF2B5EF4-FFF2-40B4-BE49-F238E27FC236}">
                <a16:creationId xmlns:a16="http://schemas.microsoft.com/office/drawing/2014/main" id="{8833F391-6826-4840-B353-03454377A2F0}"/>
              </a:ext>
            </a:extLst>
          </p:cNvPr>
          <p:cNvSpPr>
            <a:spLocks xmlns:a="http://schemas.openxmlformats.org/drawingml/2006/main" noGrp="1"/>
          </p:cNvSpPr>
          <p:nvPr/>
        </p:nvSpPr>
        <p:spPr>
          <a:xfrm xmlns:a="http://schemas.openxmlformats.org/drawingml/2006/main">
            <a:off x="6934200" y="468630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7212B"/>
                </a:solidFill>
              </a:defRPr>
            </a:pPr>
            <a:r>
              <a:rPr sz="1575" b="0">
                <a:solidFill>
                  <a:srgbClr val="17212B"/>
                </a:solidFill>
              </a:rPr>
              <a:t>Future work: spindle/coupling-aware controller quality</a:t>
            </a:r>
          </a:p>
        </p:txBody>
      </p:sp>
      <p:sp>
        <p:nvSpPr>
          <p:cNvPr id="28" name="">
            <a:extLst xmlns:a="http://schemas.openxmlformats.org/drawingml/2006/main">
              <a:ext uri="{FF2B5EF4-FFF2-40B4-BE49-F238E27FC236}">
                <a16:creationId xmlns:a16="http://schemas.microsoft.com/office/drawing/2014/main" id="{A5372AEF-FF75-4C47-AEF2-AC2C6E76BF69}"/>
              </a:ext>
            </a:extLst>
          </p:cNvPr>
          <p:cNvSpPr>
            <a:spLocks xmlns:a="http://schemas.openxmlformats.org/drawingml/2006/main" noGrp="1"/>
          </p:cNvSpPr>
          <p:nvPr/>
        </p:nvSpPr>
        <p:spPr>
          <a:xfrm xmlns:a="http://schemas.openxmlformats.org/drawingml/2006/main">
            <a:off x="704850" y="5353050"/>
            <a:ext cx="10782300" cy="838200"/>
          </a:xfrm>
          <a:prstGeom xmlns:a="http://schemas.openxmlformats.org/drawingml/2006/main" prst="roundRect">
            <a:avLst>
              <a:gd name="adj" fmla="val 13636"/>
            </a:avLst>
          </a:prstGeom>
          <a:solidFill xmlns:a="http://schemas.openxmlformats.org/drawingml/2006/main">
            <a:srgbClr val="0B1F33"/>
          </a:solidFill>
          <a:ln xmlns:a="http://schemas.openxmlformats.org/drawingml/2006/main" w="0">
            <a:solidFill>
              <a:srgbClr val="0B1F33"/>
            </a:solidFill>
            <a:prstDash val="solid"/>
          </a:ln>
        </p:spPr>
      </p:sp>
      <p:sp>
        <p:nvSpPr>
          <p:cNvPr id="29" name="">
            <a:extLst xmlns:a="http://schemas.openxmlformats.org/drawingml/2006/main">
              <a:ext uri="{FF2B5EF4-FFF2-40B4-BE49-F238E27FC236}">
                <a16:creationId xmlns:a16="http://schemas.microsoft.com/office/drawing/2014/main" id="{3C2AC76C-8F3F-4AAA-A034-240E35584872}"/>
              </a:ext>
            </a:extLst>
          </p:cNvPr>
          <p:cNvSpPr>
            <a:spLocks xmlns:a="http://schemas.openxmlformats.org/drawingml/2006/main" noGrp="1"/>
          </p:cNvSpPr>
          <p:nvPr/>
        </p:nvSpPr>
        <p:spPr>
          <a:xfrm xmlns:a="http://schemas.openxmlformats.org/drawingml/2006/main">
            <a:off x="952500" y="5495925"/>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FFFFFF"/>
                </a:solidFill>
              </a:defRPr>
            </a:pPr>
            <a:r>
              <a:rPr sz="1725" b="1">
                <a:solidFill>
                  <a:srgbClr val="FFFFFF"/>
                </a:solidFill>
              </a:rPr>
              <a:t>Close Part II at the bounded in-silico Reliable + Controllable</a:t>
            </a:r>
          </a:p>
          <a:p xmlns:a="http://schemas.openxmlformats.org/drawingml/2006/main">
            <a:pPr algn="ctr">
              <a:defRPr sz="1725" b="1">
                <a:solidFill>
                  <a:srgbClr val="FFFFFF"/>
                </a:solidFill>
              </a:defRPr>
            </a:pPr>
            <a:r>
              <a:rPr sz="1725" b="1">
                <a:solidFill>
                  <a:srgbClr val="FFFFFF"/>
                </a:solidFill>
              </a:rPr>
              <a:t>Digital Twin MVP level?</a:t>
            </a:r>
          </a:p>
        </p:txBody>
      </p:sp>
      <p:sp>
        <p:nvSpPr>
          <p:cNvPr id="30" name="">
            <a:extLst xmlns:a="http://schemas.openxmlformats.org/drawingml/2006/main">
              <a:ext uri="{FF2B5EF4-FFF2-40B4-BE49-F238E27FC236}">
                <a16:creationId xmlns:a16="http://schemas.microsoft.com/office/drawing/2014/main" id="{E75BFEF9-B72B-404D-981D-7EC54FC69F61}"/>
              </a:ext>
            </a:extLst>
          </p:cNvPr>
          <p:cNvSpPr>
            <a:spLocks xmlns:a="http://schemas.openxmlformats.org/drawingml/2006/main" noGrp="1"/>
          </p:cNvSpPr>
          <p:nvPr/>
        </p:nvSpPr>
        <p:spPr>
          <a:xfrm xmlns:a="http://schemas.openxmlformats.org/drawingml/2006/main">
            <a:off x="647700" y="6438900"/>
            <a:ext cx="10896600" cy="9525"/>
          </a:xfrm>
          <a:prstGeom xmlns:a="http://schemas.openxmlformats.org/drawingml/2006/main" prst="rect">
            <a:avLst/>
          </a:prstGeom>
          <a:solidFill xmlns:a="http://schemas.openxmlformats.org/drawingml/2006/main">
            <a:srgbClr val="D7DEE5"/>
          </a:solidFill>
          <a:ln xmlns:a="http://schemas.openxmlformats.org/drawingml/2006/main" w="0">
            <a:solidFill>
              <a:srgbClr val="D7DEE5"/>
            </a:solidFill>
            <a:prstDash val="solid"/>
          </a:ln>
        </p:spPr>
      </p:sp>
      <p:sp>
        <p:nvSpPr>
          <p:cNvPr id="31" name="">
            <a:extLst xmlns:a="http://schemas.openxmlformats.org/drawingml/2006/main">
              <a:ext uri="{FF2B5EF4-FFF2-40B4-BE49-F238E27FC236}">
                <a16:creationId xmlns:a16="http://schemas.microsoft.com/office/drawing/2014/main" id="{6A39DC4B-43C5-4AE7-A129-114D42CCDEBE}"/>
              </a:ext>
            </a:extLst>
          </p:cNvPr>
          <p:cNvSpPr>
            <a:spLocks xmlns:a="http://schemas.openxmlformats.org/drawingml/2006/main" noGrp="1"/>
          </p:cNvSpPr>
          <p:nvPr/>
        </p:nvSpPr>
        <p:spPr>
          <a:xfrm xmlns:a="http://schemas.openxmlformats.org/drawingml/2006/main">
            <a:off x="647700" y="65151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B6875"/>
                </a:solidFill>
              </a:defRPr>
            </a:pPr>
            <a:r>
              <a:rPr sz="1050" b="0">
                <a:solidFill>
                  <a:srgbClr val="5B6875"/>
                </a:solidFill>
              </a:rPr>
              <a:t>Reliable + Controllable Digital Twin MVP</a:t>
            </a:r>
          </a:p>
        </p:txBody>
      </p:sp>
      <p:sp>
        <p:nvSpPr>
          <p:cNvPr id="32" name="">
            <a:extLst xmlns:a="http://schemas.openxmlformats.org/drawingml/2006/main">
              <a:ext uri="{FF2B5EF4-FFF2-40B4-BE49-F238E27FC236}">
                <a16:creationId xmlns:a16="http://schemas.microsoft.com/office/drawing/2014/main" id="{B4E6856D-28DD-415E-8FC4-79EE49693F2A}"/>
              </a:ext>
            </a:extLst>
          </p:cNvPr>
          <p:cNvSpPr>
            <a:spLocks xmlns:a="http://schemas.openxmlformats.org/drawingml/2006/main" noGrp="1"/>
          </p:cNvSpPr>
          <p:nvPr/>
        </p:nvSpPr>
        <p:spPr>
          <a:xfrm xmlns:a="http://schemas.openxmlformats.org/drawingml/2006/main">
            <a:off x="11049000" y="65151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B6875"/>
                </a:solidFill>
              </a:defRPr>
            </a:pPr>
            <a:r>
              <a:rPr sz="1050" b="1">
                <a:solidFill>
                  <a:srgbClr val="5B6875"/>
                </a:solidFill>
              </a:rPr>
              <a:t>08</a:t>
            </a:r>
          </a:p>
        </p:txBody>
      </p:sp>
    </p:spTree>
    <p:extLst>
      <p:ext uri="{BB962C8B-B14F-4D97-AF65-F5344CB8AC3E}">
        <p14:creationId xmlns:p14="http://schemas.microsoft.com/office/powerpoint/2010/main" val="3113161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2026-08-22T01:25:04.5990000Z</dcterms:created>
  <dcterms:modified xsi:type="dcterms:W3CDTF">2026-08-22T01:25:04.5990000Z</dcterms:modified>
</coreProperties>
</file>